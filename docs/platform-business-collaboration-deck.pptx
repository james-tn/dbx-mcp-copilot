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4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38160" y="822960"/>
            <a:ext cx="32004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49640" y="1234440"/>
            <a:ext cx="2377440" cy="1051560"/>
          </a:xfrm>
          <a:prstGeom prst="round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4173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Platform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647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Azure, M365, environments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651760"/>
            <a:ext cx="2377440" cy="1051560"/>
          </a:xfrm>
          <a:prstGeom prst="round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28346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Business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18211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Agents, prompts, testing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38360" y="2286000"/>
            <a:ext cx="0" cy="365760"/>
          </a:xfrm>
          <a:prstGeom prst="line">
            <a:avLst/>
          </a:prstGeom>
          <a:ln w="38100">
            <a:solidFill>
              <a:srgbClr val="D5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2480" y="4160520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One shared delivery path</a:t>
            </a:r>
            <a:br/>
            <a:r>
              <a:t>from idea to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234440"/>
            <a:ext cx="6766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3135"/>
                </a:solidFill>
                <a:latin typeface="Aptos Display"/>
              </a:defRPr>
            </a:pPr>
            <a:r>
              <a:t>Platform And Business Collaboration</a:t>
            </a:r>
            <a:br/>
            <a:r>
              <a:t>For Agentic Solution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88036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E686A"/>
                </a:solidFill>
                <a:latin typeface="Aptos"/>
              </a:defRPr>
            </a:pPr>
            <a:r>
              <a:t>A visual walkthrough of how teams co-design, build, validate, and promote solutions from feature branches to dev, integration, and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840480"/>
            <a:ext cx="1554480" cy="320040"/>
          </a:xfrm>
          <a:prstGeom prst="round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4962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High Level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0592" y="3840480"/>
            <a:ext cx="1828800" cy="320040"/>
          </a:xfrm>
          <a:prstGeom prst="round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0592" y="384962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Audience Friendly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3840480"/>
            <a:ext cx="1645920" cy="320040"/>
          </a:xfrm>
          <a:prstGeom prst="roundRect">
            <a:avLst/>
          </a:prstGeom>
          <a:solidFill>
            <a:srgbClr val="8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384962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Repo 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89204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Daily Planner delivery model adapted for a platform and development audience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0" cy="4572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24160" y="347472"/>
            <a:ext cx="1188720" cy="32004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35661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E313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E3135"/>
                </a:solidFill>
                <a:latin typeface="Aptos Display"/>
              </a:defRPr>
            </a:pPr>
            <a:r>
              <a:t>Team Collaboration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686A"/>
                </a:solidFill>
                <a:latin typeface="Aptos"/>
              </a:defRPr>
            </a:pPr>
            <a:r>
              <a:t>Start with clear ownership, then work as one delivery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657600" cy="420624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73152" cy="4206240"/>
          </a:xfrm>
          <a:prstGeom prst="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46504"/>
            <a:ext cx="3337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Platform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67128"/>
            <a:ext cx="3337560" cy="3511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Shapes the Azure and M365 landing zone, provisions shared infrastructure, enables environments, guides non-functional architecture, and helps when capabilities need more platform surface.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246120"/>
            <a:ext cx="2907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Azure resources and environment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8386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483864"/>
            <a:ext cx="2907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Networking, security, operational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2160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721608"/>
            <a:ext cx="2907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M365 integration and publishing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59352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959352"/>
            <a:ext cx="2907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Infra evolution when solution scope expands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600200"/>
            <a:ext cx="3657600" cy="420624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600200"/>
            <a:ext cx="73152" cy="4206240"/>
          </a:xfrm>
          <a:prstGeom prst="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1746504"/>
            <a:ext cx="33375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E3135"/>
                </a:solidFill>
                <a:latin typeface="Aptos Display"/>
              </a:defRPr>
            </a:pPr>
            <a:r>
              <a:t>Business / Agent Development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478024"/>
            <a:ext cx="33375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Owns business behavior, agent design, prompts, orchestration, backend usage, local development, validation, and release readiness.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461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246120"/>
            <a:ext cx="2907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Use-case discovery and solution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48386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3483864"/>
            <a:ext cx="2907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Agent implementation and local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72160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3721608"/>
            <a:ext cx="2907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Feature delivery and validation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959352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3959352"/>
            <a:ext cx="2907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Promotion requests through the repo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600200"/>
            <a:ext cx="3611880" cy="420624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1600200"/>
            <a:ext cx="73152" cy="4206240"/>
          </a:xfrm>
          <a:prstGeom prst="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1746504"/>
            <a:ext cx="32918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Shared Responsibility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2350008"/>
            <a:ext cx="3291840" cy="3328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The strongest pattern is not handoff-only. It is joint design up front, clear boundaries in delivery, and fast re-engagement when the architecture changes.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2461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3246120"/>
            <a:ext cx="2816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Agree the high-level architecture early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48386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8" y="3483864"/>
            <a:ext cx="2816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Decide what must exist in Azure and M365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721608"/>
            <a:ext cx="201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3721608"/>
            <a:ext cx="2816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Keep one repo as the operational source of truth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123944"/>
            <a:ext cx="201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4123944"/>
            <a:ext cx="2816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Treat infra change as part of product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0" cy="4572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24160" y="347472"/>
            <a:ext cx="1188720" cy="32004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35661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E313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E3135"/>
                </a:solidFill>
                <a:latin typeface="Aptos Display"/>
              </a:defRPr>
            </a:pPr>
            <a:r>
              <a:t>End-To-End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686A"/>
                </a:solidFill>
                <a:latin typeface="Aptos"/>
              </a:defRPr>
            </a:pPr>
            <a:r>
              <a:t>From project idea to broad rollout, the teams move through one shared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148840" cy="1389888"/>
          </a:xfrm>
          <a:prstGeom prst="roundRect">
            <a:avLst/>
          </a:prstGeom>
          <a:solidFill>
            <a:srgbClr val="0B4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76479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7393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37360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Co-design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12264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Business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331720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High-level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551176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Initial delivery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600200"/>
            <a:ext cx="2148840" cy="1389888"/>
          </a:xfrm>
          <a:prstGeom prst="round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34640" y="176479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77393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737360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2112264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Azure 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2331720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Backend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2551176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External services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1600200"/>
            <a:ext cx="2148840" cy="1389888"/>
          </a:xfrm>
          <a:prstGeom prst="round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176479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77393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1737360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Bootstrap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2112264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GitHub repo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632" y="2331720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Azure + M365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6632" y="2551176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Initial infra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1600200"/>
            <a:ext cx="2148840" cy="1389888"/>
          </a:xfrm>
          <a:prstGeom prst="round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23760" y="176479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77393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737360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2112264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Local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2331720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Local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192" y="2551176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Feature refinement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60" y="1600200"/>
            <a:ext cx="2148840" cy="1389888"/>
          </a:xfrm>
          <a:prstGeom prst="roundRect">
            <a:avLst/>
          </a:prstGeom>
          <a:solidFill>
            <a:srgbClr val="8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18320" y="176479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177393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1737360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Promote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45752" y="2112264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Dev checkpoint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5752" y="2331720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Integration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5752" y="2551176"/>
            <a:ext cx="1837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Production approval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14600" y="2286000"/>
            <a:ext cx="164592" cy="0"/>
          </a:xfrm>
          <a:prstGeom prst="line">
            <a:avLst/>
          </a:prstGeom>
          <a:ln w="38100">
            <a:solidFill>
              <a:srgbClr val="D5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709160" y="2286000"/>
            <a:ext cx="164592" cy="0"/>
          </a:xfrm>
          <a:prstGeom prst="line">
            <a:avLst/>
          </a:prstGeom>
          <a:ln w="38100">
            <a:solidFill>
              <a:srgbClr val="D5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903720" y="2286000"/>
            <a:ext cx="164592" cy="0"/>
          </a:xfrm>
          <a:prstGeom prst="line">
            <a:avLst/>
          </a:prstGeom>
          <a:ln w="38100">
            <a:solidFill>
              <a:srgbClr val="D5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098280" y="2286000"/>
            <a:ext cx="164592" cy="0"/>
          </a:xfrm>
          <a:prstGeom prst="line">
            <a:avLst/>
          </a:prstGeom>
          <a:ln w="38100">
            <a:solidFill>
              <a:srgbClr val="D5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31520" y="3886200"/>
            <a:ext cx="5166360" cy="182880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3886200"/>
            <a:ext cx="73152" cy="182880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4032504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Guiding idea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4453128"/>
            <a:ext cx="48463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The repo is not just for application code. It becomes the shared operating place for solution definition, deployment flow, and future change.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886200"/>
            <a:ext cx="5166360" cy="182880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3886200"/>
            <a:ext cx="73152" cy="1828800"/>
          </a:xfrm>
          <a:prstGeom prst="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9088" y="4032504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Release posture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4453128"/>
            <a:ext cx="48463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Local work proves the feature, dev is the shared engineering checkpoint, integration is the first deployed validation gate, and production is the approved destination for broader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0" cy="4572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24160" y="347472"/>
            <a:ext cx="1188720" cy="32004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35661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E313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E3135"/>
                </a:solidFill>
                <a:latin typeface="Aptos Display"/>
              </a:defRPr>
            </a:pPr>
            <a:r>
              <a:t>Architecture Co-Design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686A"/>
                </a:solidFill>
                <a:latin typeface="Aptos"/>
              </a:defRPr>
            </a:pPr>
            <a:r>
              <a:t>Before anyone provisions or codes, align on the shape of the 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743200" cy="192024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1920240"/>
          </a:xfrm>
          <a:prstGeom prst="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92224"/>
            <a:ext cx="242316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What are we building?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95728"/>
            <a:ext cx="2423160" cy="1042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Business goal, main user journey, expected channels, and what success looks like.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743200" cy="192024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45920"/>
            <a:ext cx="73152" cy="1920240"/>
          </a:xfrm>
          <a:prstGeom prst="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1792224"/>
            <a:ext cx="242316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What must Azure host?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2395728"/>
            <a:ext cx="2423160" cy="1042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Runtime services, data connectivity, network boundaries, observability, and deployment environments.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651760" cy="192024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73152" cy="1920240"/>
          </a:xfrm>
          <a:prstGeom prst="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792224"/>
            <a:ext cx="23317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What does it depend 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395728"/>
            <a:ext cx="2331720" cy="1042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Internal backends, enterprise data sources, and approved external services.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645920"/>
            <a:ext cx="2423160" cy="192024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645920"/>
            <a:ext cx="73152" cy="1920240"/>
          </a:xfrm>
          <a:prstGeom prst="rect">
            <a:avLst/>
          </a:prstGeom>
          <a:solidFill>
            <a:srgbClr val="8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8" y="1792224"/>
            <a:ext cx="21031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What controls access?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395728"/>
            <a:ext cx="2103120" cy="1042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Authentication, authorization, environment separation, and operational ownership.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110642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Design Questions To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177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617720"/>
            <a:ext cx="2724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Which Azure resources are needed?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5546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4855464"/>
            <a:ext cx="2724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Which backend systems must be connected?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93208"/>
            <a:ext cx="201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5093208"/>
            <a:ext cx="27249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Which external services outside Veeam are required?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617720"/>
            <a:ext cx="201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4617720"/>
            <a:ext cx="2816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Which environments are needed from day one?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020056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5020056"/>
            <a:ext cx="2816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What needs live testing in Azure and M365?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257800"/>
            <a:ext cx="201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5257800"/>
            <a:ext cx="2816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What does the platform team provision up front?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6177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0648" y="4617720"/>
            <a:ext cx="3273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What security and auth model is needed?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85546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4855464"/>
            <a:ext cx="3273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What remains platform-owned vs app-owned?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5093208"/>
            <a:ext cx="201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0648" y="5093208"/>
            <a:ext cx="32735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What future changes are likely to require infra expansion?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0" cy="4572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24160" y="347472"/>
            <a:ext cx="1188720" cy="32004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35661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E313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E3135"/>
                </a:solidFill>
                <a:latin typeface="Aptos Display"/>
              </a:defRPr>
            </a:pPr>
            <a:r>
              <a:t>Platform Setup For A New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686A"/>
                </a:solidFill>
                <a:latin typeface="Aptos"/>
              </a:defRPr>
            </a:pPr>
            <a:r>
              <a:t>Once the solution shape is agreed, the platform team enables the landing zone.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2606040" cy="361188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73152" cy="3611880"/>
          </a:xfrm>
          <a:prstGeom prst="rect">
            <a:avLst/>
          </a:prstGeom>
          <a:solidFill>
            <a:srgbClr val="0B4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92224"/>
            <a:ext cx="2286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1. Initialize The Repo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95728"/>
            <a:ext cx="2286000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Create the GitHub repository, branch model, baseline documentation, and promotion path used by the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645920"/>
            <a:ext cx="2606040" cy="361188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645920"/>
            <a:ext cx="73152" cy="3611880"/>
          </a:xfrm>
          <a:prstGeom prst="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792224"/>
            <a:ext cx="22860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E3135"/>
                </a:solidFill>
                <a:latin typeface="Aptos Display"/>
              </a:defRPr>
            </a:pPr>
            <a:r>
              <a:t>2. Wire The Environments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523744"/>
            <a:ext cx="22860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Set up the hosted environments used for formal validation and production movement, with integration as the first deployed gate.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645920"/>
            <a:ext cx="2606040" cy="361188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645920"/>
            <a:ext cx="73152" cy="3611880"/>
          </a:xfrm>
          <a:prstGeom prst="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792224"/>
            <a:ext cx="22860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E3135"/>
                </a:solidFill>
                <a:latin typeface="Aptos Display"/>
              </a:defRPr>
            </a:pPr>
            <a:r>
              <a:t>3. Provision Initial Infra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2523744"/>
            <a:ext cx="22860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Stand up the first runtime and shared services that the solution needs to start development and controlled testing.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645920"/>
            <a:ext cx="2606040" cy="361188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1645920"/>
            <a:ext cx="73152" cy="3611880"/>
          </a:xfrm>
          <a:prstGeom prst="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1792224"/>
            <a:ext cx="22860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E3135"/>
                </a:solidFill>
                <a:latin typeface="Aptos Display"/>
              </a:defRPr>
            </a:pPr>
            <a:r>
              <a:t>4. Hand Over A Ready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523744"/>
            <a:ext cx="22860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The development team receives a working repo, initial targets, and a clear path for local work and remote validation.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Keep the technical wiring mostly invisible to the broader audience: what matters here is that the platform team creates the safe runway for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0" cy="4572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24160" y="347472"/>
            <a:ext cx="1188720" cy="32004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35661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E313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E3135"/>
                </a:solidFill>
                <a:latin typeface="Aptos Display"/>
              </a:defRPr>
            </a:pPr>
            <a:r>
              <a:t>Environment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686A"/>
                </a:solidFill>
                <a:latin typeface="Aptos"/>
              </a:defRPr>
            </a:pPr>
            <a:r>
              <a:t>Dev is the shared engineering checkpoint. Integration is the first formal deployed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09728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2148840" cy="3383280"/>
          </a:xfrm>
          <a:prstGeom prst="round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240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61518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Developer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063240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Can we build and test the solution quickly?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977639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Inner-loop 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215383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Prompt and agent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453127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Fast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011680"/>
            <a:ext cx="2148840" cy="3383280"/>
          </a:xfrm>
          <a:prstGeom prst="round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2240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261518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Shared engineering checkpoint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3063240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Is the change ready for the team to move forward with confidence?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3977639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Shared branch for 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4215383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Build and test readiness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048" y="4453127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Engineering alignment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011680"/>
            <a:ext cx="2148840" cy="338328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240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61518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First deployed validation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063240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Can the already-tested change run correctly in the first formal hosted environment?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3977639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Release candidate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4215383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Hosted non-prod 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4453127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Shared cross-team confidence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2011680"/>
            <a:ext cx="2148840" cy="3383280"/>
          </a:xfrm>
          <a:prstGeom prst="round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2872" y="2240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261518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Broader audience environment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3063240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Is this approved and ready for wider use?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3977639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Approved release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4215383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Operational ownership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4453127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Business adoption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596128"/>
            <a:ext cx="9966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B4D57"/>
                </a:solidFill>
                <a:latin typeface="Aptos Display"/>
              </a:defRPr>
            </a:pPr>
            <a:r>
              <a:t>Dev helps the team align and move. Integration helps the organization trust the first deployed promotion.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0" cy="4572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24160" y="347472"/>
            <a:ext cx="1188720" cy="32004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35661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E313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E3135"/>
                </a:solidFill>
                <a:latin typeface="Aptos Display"/>
              </a:defRPr>
            </a:pPr>
            <a:r>
              <a:t>Delivery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686A"/>
                </a:solidFill>
                <a:latin typeface="Aptos"/>
              </a:defRPr>
            </a:pPr>
            <a:r>
              <a:t>From local work to wider release, the path should feel simple and repeatable.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920240" cy="1389888"/>
          </a:xfrm>
          <a:prstGeom prst="roundRect">
            <a:avLst/>
          </a:prstGeom>
          <a:solidFill>
            <a:srgbClr val="0B4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85623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2880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Local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03704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Implement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23160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Run local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42616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Refine prompts and 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691640"/>
            <a:ext cx="1920240" cy="1389888"/>
          </a:xfrm>
          <a:prstGeom prst="round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34640" y="185623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86537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82880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Push To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2203704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Open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2423160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Run CI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2642616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Merge to dev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1691640"/>
            <a:ext cx="1920240" cy="1389888"/>
          </a:xfrm>
          <a:prstGeom prst="round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3480" y="185623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186537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2880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Dev Checkpoint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2203704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Shared engineering branch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2423160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Build and test 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0912" y="2642616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Ready for promotion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5160" y="1691640"/>
            <a:ext cx="1920240" cy="1389888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32320" y="185623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186537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182880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Promote To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2313432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Promote tested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9752" y="2532888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First deployed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9752" y="2752344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Shared release confidence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691640"/>
            <a:ext cx="1920240" cy="1389888"/>
          </a:xfrm>
          <a:prstGeom prst="roundRect">
            <a:avLst/>
          </a:prstGeom>
          <a:solidFill>
            <a:srgbClr val="8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81160" y="185623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186537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182880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Promote To Prod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2203704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Approval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8592" y="2423160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Broader audience rollout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2642616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Operational handoff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05456" y="2395728"/>
            <a:ext cx="182880" cy="0"/>
          </a:xfrm>
          <a:prstGeom prst="line">
            <a:avLst/>
          </a:prstGeom>
          <a:ln w="38100">
            <a:solidFill>
              <a:srgbClr val="10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654296" y="2395728"/>
            <a:ext cx="182880" cy="0"/>
          </a:xfrm>
          <a:prstGeom prst="line">
            <a:avLst/>
          </a:prstGeom>
          <a:ln w="38100">
            <a:solidFill>
              <a:srgbClr val="10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803136" y="2395728"/>
            <a:ext cx="182880" cy="0"/>
          </a:xfrm>
          <a:prstGeom prst="line">
            <a:avLst/>
          </a:prstGeom>
          <a:ln w="38100">
            <a:solidFill>
              <a:srgbClr val="10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51976" y="2395728"/>
            <a:ext cx="182879" cy="0"/>
          </a:xfrm>
          <a:prstGeom prst="line">
            <a:avLst/>
          </a:prstGeom>
          <a:ln w="38100">
            <a:solidFill>
              <a:srgbClr val="10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31520" y="4206240"/>
            <a:ext cx="5120640" cy="150876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4206240"/>
            <a:ext cx="73152" cy="1508760"/>
          </a:xfrm>
          <a:prstGeom prst="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4352544"/>
            <a:ext cx="48006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E3135"/>
                </a:solidFill>
                <a:latin typeface="Aptos Display"/>
              </a:defRPr>
            </a:pPr>
            <a:r>
              <a:t>What the audience should remember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5084064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Dev is the shared engineering checkpoint. Integration is where the same tested change is first deployed and validated as a release candidate.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4206240"/>
            <a:ext cx="5120640" cy="150876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4206240"/>
            <a:ext cx="73152" cy="1508760"/>
          </a:xfrm>
          <a:prstGeom prst="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0528" y="4352544"/>
            <a:ext cx="48006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E3135"/>
                </a:solidFill>
                <a:latin typeface="Aptos Display"/>
              </a:defRPr>
            </a:pPr>
            <a:r>
              <a:t>What the platform team enables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0528" y="5084064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A stable runway where teams align in Dev, validate in Integration, and release to Prod with less friction.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0" cy="4572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24160" y="347472"/>
            <a:ext cx="1188720" cy="32004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35661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E313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E3135"/>
                </a:solidFill>
                <a:latin typeface="Aptos Display"/>
              </a:defRPr>
            </a:pPr>
            <a:r>
              <a:t>First Hosted Validation In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686A"/>
                </a:solidFill>
                <a:latin typeface="Aptos"/>
              </a:defRPr>
            </a:pPr>
            <a:r>
              <a:t>Integration is the first formal hosted gate in the current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74720" cy="411480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" cy="4114800"/>
          </a:xfrm>
          <a:prstGeom prst="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37944"/>
            <a:ext cx="315468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Why Integration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41448"/>
            <a:ext cx="315468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This is the first place where the tested change is formally deployed and validated in a hosted non-production setup. It proves more than code quality alone.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474720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Experience the end-to-end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712464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Catch environment-specific issues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8"/>
            <a:ext cx="201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950208"/>
            <a:ext cx="26334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Validate the first deployed release candidate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691640"/>
            <a:ext cx="3474720" cy="411480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691640"/>
            <a:ext cx="73152" cy="4114800"/>
          </a:xfrm>
          <a:prstGeom prst="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1837944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What Gets Checked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258568"/>
            <a:ext cx="3154680" cy="3419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Core user scenarios, agent behavior, hosted runtime behavior, backend connectivity, and whether the promoted change is ready for production consideration.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747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3474720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Hosted functionality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71246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3712464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User flow and business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95020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3950208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Release confidence in non-prod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691640"/>
            <a:ext cx="3383280" cy="411480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691640"/>
            <a:ext cx="73152" cy="4114800"/>
          </a:xfrm>
          <a:prstGeom prst="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183794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2258568"/>
            <a:ext cx="3063240" cy="3419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If integration is healthy, the team can move toward production approval. If not, work returns to feature branches and the dev checkpoint before another promotion attempt.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4747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E768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3474720"/>
            <a:ext cx="2542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Promote when approved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71246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E768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3712464"/>
            <a:ext cx="2542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Fix and re-promote when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950208"/>
            <a:ext cx="2011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E768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3950208"/>
            <a:ext cx="25420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Keep deployment evidence close to the repo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0" cy="4572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24160" y="347472"/>
            <a:ext cx="1188720" cy="32004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35661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E313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E3135"/>
                </a:solidFill>
                <a:latin typeface="Aptos Display"/>
              </a:defRPr>
            </a:pPr>
            <a:r>
              <a:t>When Infra Must Evolve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686A"/>
                </a:solidFill>
                <a:latin typeface="Aptos"/>
              </a:defRPr>
            </a:pPr>
            <a:r>
              <a:t>The same repo continues to serve when the solution needs more platform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9728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New agent capabilities can create new infra needs: more Azure services, different connectivity, new backend dependencies, or stronger security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46120"/>
            <a:ext cx="2011680" cy="1389888"/>
          </a:xfrm>
          <a:prstGeom prst="round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41071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1985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8328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New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758184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Feature expands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977640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Dependency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197096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Scale or security grows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246120"/>
            <a:ext cx="2011680" cy="1389888"/>
          </a:xfrm>
          <a:prstGeom prst="round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83280" y="341071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41985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38328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Re-align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3758184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Platform + dev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2" y="3977640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Architecture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4197096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Updated requirements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3246120"/>
            <a:ext cx="2011680" cy="1389888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15000" y="341071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341985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38328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Change Infra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3758184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Adjust repo assets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3977640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Provision or modify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2" y="4197096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Preserve delivery path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3246120"/>
            <a:ext cx="2011680" cy="1389888"/>
          </a:xfrm>
          <a:prstGeom prst="roundRect">
            <a:avLst/>
          </a:prstGeom>
          <a:solidFill>
            <a:srgbClr val="8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46720" y="341071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341985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38328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Validate Again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3758184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Dev and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3977640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Live confirmation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4197096"/>
            <a:ext cx="17007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Operational sign-off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80" y="3246120"/>
            <a:ext cx="1280160" cy="1389888"/>
          </a:xfrm>
          <a:prstGeom prst="roundRect">
            <a:avLst/>
          </a:prstGeom>
          <a:solidFill>
            <a:srgbClr val="0B4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78440" y="341071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341985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3383280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Continue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05872" y="3758184"/>
            <a:ext cx="9692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Same repo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05872" y="3977640"/>
            <a:ext cx="9692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Same flow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054096" y="3950208"/>
            <a:ext cx="164592" cy="0"/>
          </a:xfrm>
          <a:prstGeom prst="line">
            <a:avLst/>
          </a:prstGeom>
          <a:ln w="38100">
            <a:solidFill>
              <a:srgbClr val="D06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385816" y="3950208"/>
            <a:ext cx="164591" cy="0"/>
          </a:xfrm>
          <a:prstGeom prst="line">
            <a:avLst/>
          </a:prstGeom>
          <a:ln w="38100">
            <a:solidFill>
              <a:srgbClr val="D06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717536" y="3950208"/>
            <a:ext cx="164591" cy="0"/>
          </a:xfrm>
          <a:prstGeom prst="line">
            <a:avLst/>
          </a:prstGeom>
          <a:ln w="38100">
            <a:solidFill>
              <a:srgbClr val="D06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049256" y="3950208"/>
            <a:ext cx="164592" cy="0"/>
          </a:xfrm>
          <a:prstGeom prst="line">
            <a:avLst/>
          </a:prstGeom>
          <a:ln w="38100">
            <a:solidFill>
              <a:srgbClr val="D06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0" cy="4572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24160" y="347472"/>
            <a:ext cx="1188720" cy="32004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35661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E313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E3135"/>
                </a:solidFill>
                <a:latin typeface="Aptos Display"/>
              </a:defRPr>
            </a:pPr>
            <a:r>
              <a:t>Branch Vs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686A"/>
                </a:solidFill>
                <a:latin typeface="Aptos"/>
              </a:defRPr>
            </a:pPr>
            <a:r>
              <a:t>A branch is where work moves in Git. An environment is where the release is proven or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566160" cy="420624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73152" cy="4206240"/>
          </a:xfrm>
          <a:prstGeom prst="rect">
            <a:avLst/>
          </a:prstGeom>
          <a:solidFill>
            <a:srgbClr val="0B4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Dev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12848"/>
            <a:ext cx="3246120" cy="3511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The shared engineering line. Teams merge work here, run CI, and decide whether the change is ready to move forward.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474720"/>
            <a:ext cx="2724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Code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712464"/>
            <a:ext cx="2724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Build and test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950208"/>
            <a:ext cx="2724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Fast team iteration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645920"/>
            <a:ext cx="3566160" cy="420624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645920"/>
            <a:ext cx="73152" cy="4206240"/>
          </a:xfrm>
          <a:prstGeom prst="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792224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Dev 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212848"/>
            <a:ext cx="3246120" cy="3511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Not a formal deployment workflow in the current repo. This is the shared engineering stage where the team gains CI confidence before promotion.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4747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3474720"/>
            <a:ext cx="2724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Shared engineering checkpoint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71246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3712464"/>
            <a:ext cx="2724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CI-backed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95020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3950208"/>
            <a:ext cx="2724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No dedicated deploy workflow today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645920"/>
            <a:ext cx="3566160" cy="420624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645920"/>
            <a:ext cx="73152" cy="4206240"/>
          </a:xfrm>
          <a:prstGeom prst="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1792224"/>
            <a:ext cx="32461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Integration 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2395728"/>
            <a:ext cx="3246120" cy="3328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The first formal deployed gate. It validates the tested change as a release candidate before production.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47472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3474720"/>
            <a:ext cx="2724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First deployed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1246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712464"/>
            <a:ext cx="2724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Cross-team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95020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3950208"/>
            <a:ext cx="2724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Formal release confidence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126480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B4D57"/>
                </a:solidFill>
                <a:latin typeface="Aptos Display"/>
              </a:defRPr>
            </a:pPr>
            <a:r>
              <a:t>Simple message for the audience: feature branches are individual work, dev is the checkpoint, integration is the first deployed gate, and main drives approved production promotion.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0" cy="4572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24160" y="347472"/>
            <a:ext cx="1188720" cy="32004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35661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E313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E3135"/>
                </a:solidFill>
                <a:latin typeface="Aptos Display"/>
              </a:defRPr>
            </a:pPr>
            <a:r>
              <a:t>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686A"/>
                </a:solidFill>
                <a:latin typeface="Aptos"/>
              </a:defRPr>
            </a:pPr>
            <a:r>
              <a:t>Use one clean story to show how a change moves through CI and into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965960" cy="1389888"/>
          </a:xfrm>
          <a:prstGeom prst="round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94767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5681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1. Small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95144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Pick a visible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514600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Keep scope narrow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34056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Easy to explain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783080"/>
            <a:ext cx="1965960" cy="1389888"/>
          </a:xfrm>
          <a:prstGeom prst="roundRect">
            <a:avLst/>
          </a:prstGeom>
          <a:solidFill>
            <a:srgbClr val="0B4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71800" y="194767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195681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920240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2. Push And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295144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Open a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514600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Show checks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734056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Explain branch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1783080"/>
            <a:ext cx="1965960" cy="1389888"/>
          </a:xfrm>
          <a:prstGeom prst="round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0" y="194767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95681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1920240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3. Dev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2295144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Merge to dev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2514600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Show CI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2734056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Confirm readiness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1783080"/>
            <a:ext cx="1965960" cy="1389888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69480" y="194767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195681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1920240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4. Promote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2295144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Raise promotion 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2514600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Move to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6912" y="2734056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Keep same release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60" y="1783080"/>
            <a:ext cx="1965960" cy="1389888"/>
          </a:xfrm>
          <a:prstGeom prst="roundRect">
            <a:avLst/>
          </a:prstGeom>
          <a:solidFill>
            <a:srgbClr val="8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18320" y="194767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1956816"/>
            <a:ext cx="4023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135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1920240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5.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45752" y="2295144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Controlled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5752" y="2514600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Release confidence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5752" y="2734056"/>
            <a:ext cx="1655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t>Ready for Prod gate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642616" y="2487168"/>
            <a:ext cx="164592" cy="0"/>
          </a:xfrm>
          <a:prstGeom prst="line">
            <a:avLst/>
          </a:prstGeom>
          <a:ln w="38100">
            <a:solidFill>
              <a:srgbClr val="10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791456" y="2487168"/>
            <a:ext cx="164592" cy="0"/>
          </a:xfrm>
          <a:prstGeom prst="line">
            <a:avLst/>
          </a:prstGeom>
          <a:ln w="38100">
            <a:solidFill>
              <a:srgbClr val="10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940296" y="2487168"/>
            <a:ext cx="164592" cy="0"/>
          </a:xfrm>
          <a:prstGeom prst="line">
            <a:avLst/>
          </a:prstGeom>
          <a:ln w="38100">
            <a:solidFill>
              <a:srgbClr val="10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089136" y="2487168"/>
            <a:ext cx="164592" cy="0"/>
          </a:xfrm>
          <a:prstGeom prst="line">
            <a:avLst/>
          </a:prstGeom>
          <a:ln w="38100">
            <a:solidFill>
              <a:srgbClr val="10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22960" y="4343400"/>
            <a:ext cx="4983480" cy="141732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" y="4343400"/>
            <a:ext cx="73152" cy="1417320"/>
          </a:xfrm>
          <a:prstGeom prst="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4489704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Best demo choice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" y="4910328"/>
            <a:ext cx="466344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Use a visible but low-risk change: small UI text, a simple prompt tweak, or a harmless configuration-backed behavior change.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4343400"/>
            <a:ext cx="4983480" cy="141732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4343400"/>
            <a:ext cx="73152" cy="1417320"/>
          </a:xfrm>
          <a:prstGeom prst="rect">
            <a:avLst/>
          </a:prstGeom>
          <a:solidFill>
            <a:srgbClr val="1E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6248" y="4489704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What to avoid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56248" y="4910328"/>
            <a:ext cx="466344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Do not lead with deep auth plumbing, bootstrap internals, or a fragile infra mutation. First prove the clean happy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0" cy="4572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24160" y="347472"/>
            <a:ext cx="1188720" cy="320040"/>
          </a:xfrm>
          <a:prstGeom prst="round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0" y="35661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E313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E3135"/>
                </a:solidFill>
                <a:latin typeface="Aptos Display"/>
              </a:defRPr>
            </a:pPr>
            <a:r>
              <a:t>Operating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E686A"/>
                </a:solidFill>
                <a:latin typeface="Aptos"/>
              </a:defRPr>
            </a:pPr>
            <a:r>
              <a:t>Keep the model simple enough to explain, and strong enough to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74720" cy="429768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73152" cy="4297680"/>
          </a:xfrm>
          <a:prstGeom prst="rect">
            <a:avLst/>
          </a:prstGeom>
          <a:solidFill>
            <a:srgbClr val="10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Principle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12848"/>
            <a:ext cx="3154680" cy="3602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Design together early. It avoids rework later when security, backend access, or environment needs emerge.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429768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73152" cy="4297680"/>
          </a:xfrm>
          <a:prstGeom prst="rect">
            <a:avLst/>
          </a:prstGeom>
          <a:solidFill>
            <a:srgbClr val="D06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92224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Principle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12848"/>
            <a:ext cx="3154680" cy="3602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One repo should carry the full journey: solution shape, delivery flow, and infrastructure evolution.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474720" cy="429768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0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73152" cy="4297680"/>
          </a:xfrm>
          <a:prstGeom prst="rect">
            <a:avLst/>
          </a:prstGeom>
          <a:solidFill>
            <a:srgbClr val="D5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92224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E3135"/>
                </a:solidFill>
                <a:latin typeface="Aptos Display"/>
              </a:defRPr>
            </a:pPr>
            <a:r>
              <a:t>Principle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12848"/>
            <a:ext cx="3154680" cy="3602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E686A"/>
                </a:solidFill>
                <a:latin typeface="Aptos"/>
              </a:defRPr>
            </a:pPr>
            <a:r>
              <a:t>Treat environment promotion as part of the product lifecycle, not as a separate platform afterthought.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566160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Co-design the first 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0390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803904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Re-engage when scope 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4164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6C7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041648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Keep ownership visible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56616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3566160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Use the same repo for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80390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3803904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Make delivery repeatable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04164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063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4041648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Keep docs and flow aligned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56616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3566160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Validate in live environments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80390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803904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Promote with 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04164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59B2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041648"/>
            <a:ext cx="2633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86A"/>
                </a:solidFill>
                <a:latin typeface="Aptos"/>
              </a:defRPr>
            </a:pPr>
            <a:r>
              <a:t>Scale to wider audiences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6126480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B4D57"/>
                </a:solidFill>
                <a:latin typeface="Aptos Display"/>
              </a:defRPr>
            </a:pPr>
            <a:r>
              <a:t>Platform and development succeed faster when the journey is shared, visible, and repeatable.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