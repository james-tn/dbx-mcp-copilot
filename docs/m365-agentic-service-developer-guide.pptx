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54864"/>
          </a:xfrm>
          <a:prstGeom prst="roundRect">
            <a:avLst/>
          </a:prstGeom>
          <a:solidFill>
            <a:srgbClr val="00B3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Segoe UI"/>
              </a:defRPr>
            </a:pPr>
            <a:r>
              <a:t>Deploying an Agentic Service</a:t>
            </a:r>
            <a:br/>
            <a:r>
              <a:t>to Microsoft 365 Copilot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918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00B336"/>
                </a:solidFill>
                <a:latin typeface="Segoe UI"/>
              </a:defRPr>
            </a:pPr>
            <a:r>
              <a:t>with Delegated On-Behalf-Of (OBO) Access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5720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8888AA"/>
                </a:solidFill>
                <a:latin typeface="Segoe UI"/>
              </a:defRPr>
            </a:pPr>
            <a:r>
              <a:t>A general developer guideline for any agentic framework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54864"/>
          </a:xfrm>
          <a:prstGeom prst="roundRect">
            <a:avLst/>
          </a:prstGeom>
          <a:solidFill>
            <a:srgbClr val="00B3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Segoe UI"/>
              </a:defRPr>
            </a:pPr>
            <a:r>
              <a:t>Architecture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88AA"/>
                </a:solidFill>
                <a:latin typeface="Segoe UI"/>
              </a:defRPr>
            </a:pPr>
            <a:r>
              <a:t>Two independently deployable services with clean trust boundaries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554480"/>
            <a:ext cx="2743200" cy="2194560"/>
          </a:xfrm>
          <a:prstGeom prst="roundRect">
            <a:avLst/>
          </a:prstGeom>
          <a:solidFill>
            <a:srgbClr val="1E3A5F"/>
          </a:solidFill>
          <a:ln w="19050">
            <a:solidFill>
              <a:srgbClr val="4FC3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64592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4FC3FF"/>
                </a:solidFill>
                <a:latin typeface="Segoe UI"/>
              </a:defRPr>
            </a:pPr>
            <a:r>
              <a:t>Microsoft 365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011680"/>
            <a:ext cx="2377440" cy="640080"/>
          </a:xfrm>
          <a:prstGeom prst="roundRect">
            <a:avLst/>
          </a:prstGeom>
          <a:solidFill>
            <a:srgbClr val="262642"/>
          </a:solidFill>
          <a:ln w="19050">
            <a:solidFill>
              <a:srgbClr val="4444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10312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4FC3FF"/>
                </a:solidFill>
                <a:latin typeface="Segoe UI"/>
              </a:defRPr>
            </a:pPr>
            <a:r>
              <a:t>End User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468880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Segoe UI"/>
              </a:defRPr>
            </a:pPr>
            <a:r>
              <a:t>Signs in via Entra SSO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788920"/>
            <a:ext cx="2377440" cy="640080"/>
          </a:xfrm>
          <a:prstGeom prst="roundRect">
            <a:avLst/>
          </a:prstGeom>
          <a:solidFill>
            <a:srgbClr val="262642"/>
          </a:solidFill>
          <a:ln w="19050">
            <a:solidFill>
              <a:srgbClr val="4444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288036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4FC3FF"/>
                </a:solidFill>
                <a:latin typeface="Segoe UI"/>
              </a:defRPr>
            </a:pPr>
            <a:r>
              <a:t>M365 Copilot / Teams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246120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Segoe UI"/>
              </a:defRPr>
            </a:pPr>
            <a:r>
              <a:t>Conversation UX + SSO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06240" y="1554480"/>
            <a:ext cx="4389120" cy="2194560"/>
          </a:xfrm>
          <a:prstGeom prst="roundRect">
            <a:avLst/>
          </a:prstGeom>
          <a:solidFill>
            <a:srgbClr val="1A3D1A"/>
          </a:solidFill>
          <a:ln w="19050">
            <a:solidFill>
              <a:srgbClr val="00B3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89120" y="1645920"/>
            <a:ext cx="4023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B336"/>
                </a:solidFill>
                <a:latin typeface="Segoe UI"/>
              </a:defRPr>
            </a:pPr>
            <a:r>
              <a:t>Azure Container Apps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89120" y="2011680"/>
            <a:ext cx="1920240" cy="640080"/>
          </a:xfrm>
          <a:prstGeom prst="roundRect">
            <a:avLst/>
          </a:prstGeom>
          <a:solidFill>
            <a:srgbClr val="262642"/>
          </a:solidFill>
          <a:ln w="19050">
            <a:solidFill>
              <a:srgbClr val="4444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0" y="2103120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B336"/>
                </a:solidFill>
                <a:latin typeface="Segoe UI"/>
              </a:defRPr>
            </a:pPr>
            <a:r>
              <a:t>M365 Gateway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2468880"/>
            <a:ext cx="1554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Segoe UI"/>
              </a:defRPr>
            </a:pPr>
            <a:r>
              <a:t>Stateless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0" y="2706624"/>
            <a:ext cx="1554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Segoe UI"/>
              </a:defRPr>
            </a:pPr>
            <a:r>
              <a:t>Bot protocol + JWT + OBO #1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92240" y="2011680"/>
            <a:ext cx="1920240" cy="640080"/>
          </a:xfrm>
          <a:prstGeom prst="roundRect">
            <a:avLst/>
          </a:prstGeom>
          <a:solidFill>
            <a:srgbClr val="262642"/>
          </a:solidFill>
          <a:ln w="19050">
            <a:solidFill>
              <a:srgbClr val="4444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75120" y="2103120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B336"/>
                </a:solidFill>
                <a:latin typeface="Segoe UI"/>
              </a:defRPr>
            </a:pPr>
            <a:r>
              <a:t>Agentic Service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75120" y="2468880"/>
            <a:ext cx="1554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Segoe UI"/>
              </a:defRPr>
            </a:pPr>
            <a:r>
              <a:t>Stateful, internal-only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75120" y="2706624"/>
            <a:ext cx="1554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Segoe UI"/>
              </a:defRPr>
            </a:pPr>
            <a:r>
              <a:t>Your logic + OBO #2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326880" y="1554480"/>
            <a:ext cx="2377440" cy="2194560"/>
          </a:xfrm>
          <a:prstGeom prst="roundRect">
            <a:avLst/>
          </a:prstGeom>
          <a:solidFill>
            <a:srgbClr val="4D331A"/>
          </a:solidFill>
          <a:ln w="19050">
            <a:solidFill>
              <a:srgbClr val="FFA7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509760" y="164592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A726"/>
                </a:solidFill>
                <a:latin typeface="Segoe UI"/>
              </a:defRPr>
            </a:pPr>
            <a:r>
              <a:t>Downstream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509760" y="2011680"/>
            <a:ext cx="2011680" cy="640080"/>
          </a:xfrm>
          <a:prstGeom prst="roundRect">
            <a:avLst/>
          </a:prstGeom>
          <a:solidFill>
            <a:srgbClr val="262642"/>
          </a:solidFill>
          <a:ln w="19050">
            <a:solidFill>
              <a:srgbClr val="4444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692640" y="210312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A726"/>
                </a:solidFill>
                <a:latin typeface="Segoe UI"/>
              </a:defRPr>
            </a:pPr>
            <a:r>
              <a:t>APIs / DBs / MCP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92640" y="2468880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Segoe UI"/>
              </a:defRPr>
            </a:pPr>
            <a:r>
              <a:t>Called as delegated user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7200" y="4114800"/>
            <a:ext cx="3566160" cy="2286000"/>
          </a:xfrm>
          <a:prstGeom prst="roundRect">
            <a:avLst/>
          </a:prstGeom>
          <a:solidFill>
            <a:srgbClr val="262642"/>
          </a:solidFill>
          <a:ln w="19050">
            <a:solidFill>
              <a:srgbClr val="4444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080" y="420624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B336"/>
                </a:solidFill>
                <a:latin typeface="Segoe UI"/>
              </a:defRPr>
            </a:pPr>
            <a:r>
              <a:t>Why two services?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" y="4663440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4FC3FF"/>
                </a:solidFill>
                <a:latin typeface="Segoe UI"/>
              </a:defRPr>
            </a:pPr>
            <a:r>
              <a:t>Trust boundary separation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" y="489204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Segoe UI"/>
              </a:defRPr>
            </a:pPr>
            <a:r>
              <a:t>Gateway handles Bot protocol. Service owns data access.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" y="5166360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4FC3FF"/>
                </a:solidFill>
                <a:latin typeface="Segoe UI"/>
              </a:defRPr>
            </a:pPr>
            <a:r>
              <a:t>Independent scaling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" y="539496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Segoe UI"/>
              </a:defRPr>
            </a:pPr>
            <a:r>
              <a:t>Gateway scales horizontally. Service pinned for sessions.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" y="5669280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4FC3FF"/>
                </a:solidFill>
                <a:latin typeface="Segoe UI"/>
              </a:defRPr>
            </a:pPr>
            <a:r>
              <a:t>Framework freedom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0080" y="589788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Segoe UI"/>
              </a:defRPr>
            </a:pPr>
            <a:r>
              <a:t>Any agentic framework inside the service.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0080" y="6172200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4FC3FF"/>
                </a:solidFill>
                <a:latin typeface="Segoe UI"/>
              </a:defRPr>
            </a:pPr>
            <a:r>
              <a:t>Adapt without modifying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0080" y="640080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Segoe UI"/>
              </a:defRPr>
            </a:pPr>
            <a:r>
              <a:t>Front an existing service by writing only the gateway.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389120" y="4114800"/>
            <a:ext cx="7223760" cy="2286000"/>
          </a:xfrm>
          <a:prstGeom prst="roundRect">
            <a:avLst/>
          </a:prstGeom>
          <a:solidFill>
            <a:srgbClr val="262642"/>
          </a:solidFill>
          <a:ln w="19050">
            <a:solidFill>
              <a:srgbClr val="4444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572000" y="4206240"/>
            <a:ext cx="6858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B336"/>
                </a:solidFill>
                <a:latin typeface="Segoe UI"/>
              </a:defRPr>
            </a:pPr>
            <a:r>
              <a:t>Layer Responsibilities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72000" y="466344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4FC3FF"/>
                </a:solidFill>
                <a:latin typeface="Segoe UI"/>
              </a:defRPr>
            </a:pPr>
            <a:r>
              <a:t>M365 Copilot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00800" y="466344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Segoe UI"/>
              </a:defRPr>
            </a:pPr>
            <a:r>
              <a:t>User identity, SSO, conversation UX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875520" y="466344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888AA"/>
                </a:solidFill>
                <a:latin typeface="Segoe UI"/>
              </a:defRPr>
            </a:pPr>
            <a:r>
              <a:t>None (platform)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572000" y="5010912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4FC3FF"/>
                </a:solidFill>
                <a:latin typeface="Segoe UI"/>
              </a:defRPr>
            </a:pPr>
            <a:r>
              <a:t>Gateway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400800" y="5010912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Segoe UI"/>
              </a:defRPr>
            </a:pPr>
            <a:r>
              <a:t>Bot protocol adapter, JWT validation, OBO #1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875520" y="5010912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888AA"/>
                </a:solidFill>
                <a:latin typeface="Segoe UI"/>
              </a:defRPr>
            </a:pPr>
            <a:r>
              <a:t>Stateless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572000" y="5358384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4FC3FF"/>
                </a:solidFill>
                <a:latin typeface="Segoe UI"/>
              </a:defRPr>
            </a:pPr>
            <a:r>
              <a:t>Agentic Service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400800" y="5358384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Segoe UI"/>
              </a:defRPr>
            </a:pPr>
            <a:r>
              <a:t>Business logic, orchestration, sessions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875520" y="5358384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888AA"/>
                </a:solidFill>
                <a:latin typeface="Segoe UI"/>
              </a:defRPr>
            </a:pPr>
            <a:r>
              <a:t>Stateful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572000" y="5705856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4FC3FF"/>
                </a:solidFill>
                <a:latin typeface="Segoe UI"/>
              </a:defRPr>
            </a:pPr>
            <a:r>
              <a:t>Downstream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400800" y="5705856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Segoe UI"/>
              </a:defRPr>
            </a:pPr>
            <a:r>
              <a:t>Data, APIs, MCP servers as delegated user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875520" y="5705856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888AA"/>
                </a:solidFill>
                <a:latin typeface="Segoe UI"/>
              </a:defRPr>
            </a:pPr>
            <a:r>
              <a:t>External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54864"/>
          </a:xfrm>
          <a:prstGeom prst="roundRect">
            <a:avLst/>
          </a:prstGeom>
          <a:solidFill>
            <a:srgbClr val="00B3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Segoe UI"/>
              </a:defRPr>
            </a:pPr>
            <a:r>
              <a:t>Token Flow Deep Dive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88AA"/>
                </a:solidFill>
                <a:latin typeface="Segoe UI"/>
              </a:defRPr>
            </a:pPr>
            <a:r>
              <a:t>User identity flows end-to-end through two chained OBO exchanges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1645920"/>
            <a:ext cx="2011680" cy="1828800"/>
          </a:xfrm>
          <a:prstGeom prst="roundRect">
            <a:avLst/>
          </a:prstGeom>
          <a:solidFill>
            <a:srgbClr val="262642"/>
          </a:solidFill>
          <a:ln w="19050">
            <a:solidFill>
              <a:srgbClr val="4FC3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79" y="1737360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4FC3FF"/>
                </a:solidFill>
                <a:latin typeface="Segoe UI"/>
              </a:defRPr>
            </a:pPr>
            <a:r>
              <a:t>End User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79" y="2103120"/>
            <a:ext cx="17373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CCCCCC"/>
                </a:solidFill>
                <a:latin typeface="Segoe UI"/>
              </a:defRPr>
            </a:pPr>
            <a:r>
              <a:t>Signs in</a:t>
            </a:r>
            <a:br/>
            <a:r>
              <a:t>(Entra SSO)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468880" y="1645920"/>
            <a:ext cx="2011680" cy="1828800"/>
          </a:xfrm>
          <a:prstGeom prst="roundRect">
            <a:avLst/>
          </a:prstGeom>
          <a:solidFill>
            <a:srgbClr val="262642"/>
          </a:solidFill>
          <a:ln w="19050">
            <a:solidFill>
              <a:srgbClr val="4FC3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606040" y="1737360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4FC3FF"/>
                </a:solidFill>
                <a:latin typeface="Segoe UI"/>
              </a:defRPr>
            </a:pPr>
            <a:r>
              <a:t>Copilot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06040" y="2103120"/>
            <a:ext cx="17373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CCCCCC"/>
                </a:solidFill>
                <a:latin typeface="Segoe UI"/>
              </a:defRPr>
            </a:pPr>
            <a:r>
              <a:t>Activity +</a:t>
            </a:r>
            <a:br/>
            <a:r>
              <a:t>channel token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663440" y="1645920"/>
            <a:ext cx="2011680" cy="1828800"/>
          </a:xfrm>
          <a:prstGeom prst="roundRect">
            <a:avLst/>
          </a:prstGeom>
          <a:solidFill>
            <a:srgbClr val="262642"/>
          </a:solidFill>
          <a:ln w="19050">
            <a:solidFill>
              <a:srgbClr val="00B3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00600" y="1737360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00B336"/>
                </a:solidFill>
                <a:latin typeface="Segoe UI"/>
              </a:defRPr>
            </a:pPr>
            <a:r>
              <a:t>Gateway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00600" y="2103120"/>
            <a:ext cx="17373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CCCCCC"/>
                </a:solidFill>
                <a:latin typeface="Segoe UI"/>
              </a:defRPr>
            </a:pPr>
            <a:r>
              <a:t>OBO #1 + JWT validation</a:t>
            </a:r>
            <a:br/>
            <a:r>
              <a:t>extract claims</a:t>
            </a:r>
            <a:br/>
            <a:r>
              <a:t>forward token + headers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0" y="1645920"/>
            <a:ext cx="2011680" cy="1828800"/>
          </a:xfrm>
          <a:prstGeom prst="roundRect">
            <a:avLst/>
          </a:prstGeom>
          <a:solidFill>
            <a:srgbClr val="262642"/>
          </a:solidFill>
          <a:ln w="19050">
            <a:solidFill>
              <a:srgbClr val="00B3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95160" y="1737360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00B336"/>
                </a:solidFill>
                <a:latin typeface="Segoe UI"/>
              </a:defRPr>
            </a:pPr>
            <a:r>
              <a:t>Service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95160" y="2103120"/>
            <a:ext cx="17373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CCCCCC"/>
                </a:solidFill>
                <a:latin typeface="Segoe UI"/>
              </a:defRPr>
            </a:pPr>
            <a:r>
              <a:t>Trusts gateway</a:t>
            </a:r>
            <a:br/>
            <a:r>
              <a:t>Binds ContextVar</a:t>
            </a:r>
            <a:br/>
            <a:r>
              <a:t>OBO #2 → downstream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418320" y="1645920"/>
            <a:ext cx="2011680" cy="1828800"/>
          </a:xfrm>
          <a:prstGeom prst="roundRect">
            <a:avLst/>
          </a:prstGeom>
          <a:solidFill>
            <a:srgbClr val="262642"/>
          </a:solidFill>
          <a:ln w="19050">
            <a:solidFill>
              <a:srgbClr val="FFA7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555480" y="1737360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A726"/>
                </a:solidFill>
                <a:latin typeface="Segoe UI"/>
              </a:defRPr>
            </a:pPr>
            <a:r>
              <a:t>Downstream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555480" y="2103120"/>
            <a:ext cx="17373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CCCCCC"/>
                </a:solidFill>
                <a:latin typeface="Segoe UI"/>
              </a:defRPr>
            </a:pPr>
            <a:r>
              <a:t>API call as</a:t>
            </a:r>
            <a:br/>
            <a:r>
              <a:t>delegated user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331720" y="233172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00B336"/>
                </a:solidFill>
                <a:latin typeface="Segoe UI"/>
              </a:defRPr>
            </a:pPr>
            <a:r>
              <a:t>→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057400" y="2606040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8888AA"/>
                </a:solidFill>
                <a:latin typeface="Segoe UI"/>
              </a:defRPr>
            </a:pPr>
            <a:r>
              <a:t>SSO token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26280" y="233172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00B336"/>
                </a:solidFill>
                <a:latin typeface="Segoe UI"/>
              </a:defRPr>
            </a:pPr>
            <a:r>
              <a:t>→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251960" y="2606040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8888AA"/>
                </a:solidFill>
                <a:latin typeface="Segoe UI"/>
              </a:defRPr>
            </a:pPr>
            <a:r>
              <a:t>channel token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20840" y="233172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00B336"/>
                </a:solidFill>
                <a:latin typeface="Segoe UI"/>
              </a:defRPr>
            </a:pPr>
            <a:r>
              <a:t>→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46520" y="2606040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8888AA"/>
                </a:solidFill>
                <a:latin typeface="Segoe UI"/>
              </a:defRPr>
            </a:pPr>
            <a:r>
              <a:t>Bearer service_token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98280" y="233172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00B336"/>
                </a:solidFill>
                <a:latin typeface="Segoe UI"/>
              </a:defRPr>
            </a:pPr>
            <a:r>
              <a:t>→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823959" y="2606040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8888AA"/>
                </a:solidFill>
                <a:latin typeface="Segoe UI"/>
              </a:defRPr>
            </a:pPr>
            <a:r>
              <a:t>Bearer downstream_token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274320" y="3840480"/>
            <a:ext cx="11612880" cy="2743200"/>
          </a:xfrm>
          <a:prstGeom prst="roundRect">
            <a:avLst/>
          </a:prstGeom>
          <a:solidFill>
            <a:srgbClr val="262642"/>
          </a:solidFill>
          <a:ln w="19050">
            <a:solidFill>
              <a:srgbClr val="4444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48640" y="39319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B336"/>
                </a:solidFill>
                <a:latin typeface="Segoe UI"/>
              </a:defRPr>
            </a:pPr>
            <a:r>
              <a:t>Key Principles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48640" y="4389120"/>
            <a:ext cx="365760" cy="365760"/>
          </a:xfrm>
          <a:prstGeom prst="roundRect">
            <a:avLst/>
          </a:prstGeom>
          <a:solidFill>
            <a:srgbClr val="00B3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48640" y="438912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51560" y="438912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Token never leaves the OBO chain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840480" y="4389120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Segoe UI"/>
              </a:defRPr>
            </a:pPr>
            <a:r>
              <a:t>Each service receives a scoped assertion and exchanges it for the next hop.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48640" y="4956048"/>
            <a:ext cx="365760" cy="365760"/>
          </a:xfrm>
          <a:prstGeom prst="roundRect">
            <a:avLst/>
          </a:prstGeom>
          <a:solidFill>
            <a:srgbClr val="00B3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48640" y="4956048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51560" y="4956048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JWT validation lives in the Gateway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840480" y="4956048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Segoe UI"/>
              </a:defRPr>
            </a:pPr>
            <a:r>
              <a:t>Centralizes auth. Service trusts the gateway on an internal-only network.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48640" y="5522976"/>
            <a:ext cx="365760" cy="365760"/>
          </a:xfrm>
          <a:prstGeom prst="roundRect">
            <a:avLst/>
          </a:prstGeom>
          <a:solidFill>
            <a:srgbClr val="00B3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48640" y="5522976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51560" y="5522976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Service internal-only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840480" y="5522976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Segoe UI"/>
              </a:defRPr>
            </a:pPr>
            <a:r>
              <a:t>Not publicly accessible. Gateway is the sole ingress — the trust boundary.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548640" y="6089904"/>
            <a:ext cx="365760" cy="365760"/>
          </a:xfrm>
          <a:prstGeom prst="roundRect">
            <a:avLst/>
          </a:prstGeom>
          <a:solidFill>
            <a:srgbClr val="00B3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48640" y="6089904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51560" y="6089904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ContextVar carries the assertion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840480" y="6089904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Segoe UI"/>
              </a:defRPr>
            </a:pPr>
            <a:r>
              <a:t>Bound in middleware, available deep in the call stack for downstream OBO.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54864"/>
          </a:xfrm>
          <a:prstGeom prst="roundRect">
            <a:avLst/>
          </a:prstGeom>
          <a:solidFill>
            <a:srgbClr val="00B3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Segoe UI"/>
              </a:defRPr>
            </a:pPr>
            <a:r>
              <a:t>Entra ID App Registrations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88AA"/>
                </a:solidFill>
                <a:latin typeface="Segoe UI"/>
              </a:defRPr>
            </a:pPr>
            <a:r>
              <a:t>Two app registrations + downstream resource awareness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463040"/>
            <a:ext cx="5029200" cy="2560320"/>
          </a:xfrm>
          <a:prstGeom prst="roundRect">
            <a:avLst/>
          </a:prstGeom>
          <a:solidFill>
            <a:srgbClr val="262642"/>
          </a:solidFill>
          <a:ln w="19050">
            <a:solidFill>
              <a:srgbClr val="00B3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5544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B336"/>
                </a:solidFill>
                <a:latin typeface="Segoe UI"/>
              </a:defRPr>
            </a:pPr>
            <a:r>
              <a:t>Agentic Service App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011680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8888AA"/>
                </a:solidFill>
                <a:latin typeface="Segoe UI"/>
              </a:defRPr>
            </a:pPr>
            <a:r>
              <a:t>Identifier URI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60320" y="2011680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Segoe UI"/>
              </a:defRPr>
            </a:pPr>
            <a:r>
              <a:t>api://&lt;service-client-id&gt;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331720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8888AA"/>
                </a:solidFill>
                <a:latin typeface="Segoe UI"/>
              </a:defRPr>
            </a:pPr>
            <a:r>
              <a:t>Sign-in audience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60320" y="2331720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Segoe UI"/>
              </a:defRPr>
            </a:pPr>
            <a:r>
              <a:t>AzureADMyOrg (single tenant)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651760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8888AA"/>
                </a:solidFill>
                <a:latin typeface="Segoe UI"/>
              </a:defRPr>
            </a:pPr>
            <a:r>
              <a:t>Token version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60320" y="2651760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Segoe UI"/>
              </a:defRPr>
            </a:pPr>
            <a:r>
              <a:t>requestedAccessTokenVersion: 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2971800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8888AA"/>
                </a:solidFill>
                <a:latin typeface="Segoe UI"/>
              </a:defRPr>
            </a:pPr>
            <a:r>
              <a:t>Exposed scope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60320" y="2971800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Segoe UI"/>
              </a:defRPr>
            </a:pPr>
            <a:r>
              <a:t>access_as_user (delegated)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3291840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8888AA"/>
                </a:solidFill>
                <a:latin typeface="Segoe UI"/>
              </a:defRPr>
            </a:pPr>
            <a:r>
              <a:t>Required perms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560320" y="3291840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Segoe UI"/>
              </a:defRPr>
            </a:pPr>
            <a:r>
              <a:t>Downstream user_impersonation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3611880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8888AA"/>
                </a:solidFill>
                <a:latin typeface="Segoe UI"/>
              </a:defRPr>
            </a:pPr>
            <a:r>
              <a:t>Client secret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60320" y="3611880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Segoe UI"/>
              </a:defRPr>
            </a:pPr>
            <a:r>
              <a:t>Yes (for MSAL ConfidentialClient OBO)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943600" y="1463040"/>
            <a:ext cx="5760720" cy="2560320"/>
          </a:xfrm>
          <a:prstGeom prst="roundRect">
            <a:avLst/>
          </a:prstGeom>
          <a:solidFill>
            <a:srgbClr val="262642"/>
          </a:solidFill>
          <a:ln w="19050">
            <a:solidFill>
              <a:srgbClr val="4FC3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17920" y="155448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4FC3FF"/>
                </a:solidFill>
                <a:latin typeface="Segoe UI"/>
              </a:defRPr>
            </a:pPr>
            <a:r>
              <a:t>Gateway / Bot App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17920" y="2011680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8888AA"/>
                </a:solidFill>
                <a:latin typeface="Segoe UI"/>
              </a:defRPr>
            </a:pPr>
            <a:r>
              <a:t>Identifier URI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0" y="2011680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Segoe UI"/>
              </a:defRPr>
            </a:pPr>
            <a:r>
              <a:t>api://botid-&lt;bot-client-id&gt;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17920" y="2331720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8888AA"/>
                </a:solidFill>
                <a:latin typeface="Segoe UI"/>
              </a:defRPr>
            </a:pPr>
            <a:r>
              <a:t>Sign-in audience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0" y="2331720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Segoe UI"/>
              </a:defRPr>
            </a:pPr>
            <a:r>
              <a:t>AzureADMyOrg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17920" y="2651760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8888AA"/>
                </a:solidFill>
                <a:latin typeface="Segoe UI"/>
              </a:defRPr>
            </a:pPr>
            <a:r>
              <a:t>Exposed scope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0" y="2651760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Segoe UI"/>
              </a:defRPr>
            </a:pPr>
            <a:r>
              <a:t>access_as_user (delegated)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17920" y="2971800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8888AA"/>
                </a:solidFill>
                <a:latin typeface="Segoe UI"/>
              </a:defRPr>
            </a:pPr>
            <a:r>
              <a:t>Required perms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600" y="2971800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Segoe UI"/>
              </a:defRPr>
            </a:pPr>
            <a:r>
              <a:t>Service app access_as_user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17920" y="3291840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8888AA"/>
                </a:solidFill>
                <a:latin typeface="Segoe UI"/>
              </a:defRPr>
            </a:pPr>
            <a:r>
              <a:t>Redirect URI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29600" y="3291840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Segoe UI"/>
              </a:defRPr>
            </a:pPr>
            <a:r>
              <a:t>https://token.botframework.com/.auth/web/redirect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17920" y="3611880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8888AA"/>
                </a:solidFill>
                <a:latin typeface="Segoe UI"/>
              </a:defRPr>
            </a:pPr>
            <a:r>
              <a:t>Preauthorized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29600" y="3611880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Segoe UI"/>
              </a:defRPr>
            </a:pPr>
            <a:r>
              <a:t>Teams Desktop + Teams Web client IDs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57200" y="4297680"/>
            <a:ext cx="11247120" cy="2286000"/>
          </a:xfrm>
          <a:prstGeom prst="roundRect">
            <a:avLst/>
          </a:prstGeom>
          <a:solidFill>
            <a:srgbClr val="262642"/>
          </a:solidFill>
          <a:ln w="19050">
            <a:solidFill>
              <a:srgbClr val="FFA7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31520" y="438912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A726"/>
                </a:solidFill>
                <a:latin typeface="Segoe UI"/>
              </a:defRPr>
            </a:pPr>
            <a:r>
              <a:t>Admin Consent Required (both chains)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484632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  <a:latin typeface="Segoe UI"/>
              </a:defRPr>
            </a:pPr>
            <a:r>
              <a:t>Gateway/Bot app  →  Service app access_as_user              ←  admin consent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31520" y="521208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  <a:latin typeface="Segoe UI"/>
              </a:defRPr>
            </a:pPr>
            <a:r>
              <a:t>Service app          →  Downstream user_impersonation    ←  admin consent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31520" y="576072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6666"/>
                </a:solidFill>
                <a:latin typeface="Segoe UI"/>
              </a:defRPr>
            </a:pPr>
            <a:r>
              <a:t>Without admin consent: AADSTS65001 — The user or administrator has not consented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54864"/>
          </a:xfrm>
          <a:prstGeom prst="roundRect">
            <a:avLst/>
          </a:prstGeom>
          <a:solidFill>
            <a:srgbClr val="4FC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Segoe UI"/>
              </a:defRPr>
            </a:pPr>
            <a:r>
              <a:t>Component 1: The M365 Gateway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88AA"/>
                </a:solidFill>
                <a:latin typeface="Segoe UI"/>
              </a:defRPr>
            </a:pPr>
            <a:r>
              <a:t>Stateless protocol adapter — bridges Bot Framework to your service's native API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1325880"/>
            <a:ext cx="11612880" cy="640080"/>
          </a:xfrm>
          <a:prstGeom prst="roundRect">
            <a:avLst/>
          </a:prstGeom>
          <a:solidFill>
            <a:srgbClr val="1E3A1E"/>
          </a:solidFill>
          <a:ln w="19050">
            <a:solidFill>
              <a:srgbClr val="00B3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B336"/>
                </a:solidFill>
                <a:latin typeface="Segoe UI"/>
              </a:defRPr>
            </a:pPr>
            <a:r>
              <a:t>Key insight: You do NOT need to modify your existing service. The gateway absorbs JWT validation, protocol translation, and adaptation to your service's native API.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2240280"/>
            <a:ext cx="2011680" cy="1371600"/>
          </a:xfrm>
          <a:prstGeom prst="roundRect">
            <a:avLst/>
          </a:prstGeom>
          <a:solidFill>
            <a:srgbClr val="262642"/>
          </a:solidFill>
          <a:ln w="19050">
            <a:solidFill>
              <a:srgbClr val="4FC3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22860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4FC3FF"/>
                </a:solidFill>
                <a:latin typeface="Segoe UI"/>
              </a:defRPr>
            </a:pPr>
            <a:r>
              <a:t>POST /api/messages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2697480"/>
            <a:ext cx="1828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CCCCCC"/>
                </a:solidFill>
                <a:latin typeface="Segoe UI"/>
              </a:defRPr>
            </a:pPr>
            <a:r>
              <a:t>Bot activity from</a:t>
            </a:r>
            <a:br/>
            <a:r>
              <a:t>Copilot/Teams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560320" y="2240280"/>
            <a:ext cx="2011680" cy="1371600"/>
          </a:xfrm>
          <a:prstGeom prst="roundRect">
            <a:avLst/>
          </a:prstGeom>
          <a:solidFill>
            <a:srgbClr val="262642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651760" y="22860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Route by type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51760" y="2697480"/>
            <a:ext cx="1828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CCCCCC"/>
                </a:solidFill>
                <a:latin typeface="Segoe UI"/>
              </a:defRPr>
            </a:pPr>
            <a:r>
              <a:t>message → auth</a:t>
            </a:r>
            <a:br/>
            <a:r>
              <a:t>invoke → SSO</a:t>
            </a:r>
            <a:br/>
            <a:r>
              <a:t>other → welcome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846320" y="2240280"/>
            <a:ext cx="2011680" cy="1371600"/>
          </a:xfrm>
          <a:prstGeom prst="roundRect">
            <a:avLst/>
          </a:prstGeom>
          <a:solidFill>
            <a:srgbClr val="262642"/>
          </a:solidFill>
          <a:ln w="19050">
            <a:solidFill>
              <a:srgbClr val="00B3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937759" y="22860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B336"/>
                </a:solidFill>
                <a:latin typeface="Segoe UI"/>
              </a:defRPr>
            </a:pPr>
            <a:r>
              <a:t>OBO #1 + JWT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37759" y="2697480"/>
            <a:ext cx="1828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CCCCCC"/>
                </a:solidFill>
                <a:latin typeface="Segoe UI"/>
              </a:defRPr>
            </a:pPr>
            <a:r>
              <a:t>Token exchange</a:t>
            </a:r>
            <a:br/>
            <a:r>
              <a:t>+ validate JWT</a:t>
            </a:r>
            <a:br/>
            <a:r>
              <a:t>+ extract claims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132320" y="2240280"/>
            <a:ext cx="2011680" cy="1371600"/>
          </a:xfrm>
          <a:prstGeom prst="roundRect">
            <a:avLst/>
          </a:prstGeom>
          <a:solidFill>
            <a:srgbClr val="262642"/>
          </a:solidFill>
          <a:ln w="19050">
            <a:solidFill>
              <a:srgbClr val="00B3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223759" y="22860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B336"/>
                </a:solidFill>
                <a:latin typeface="Segoe UI"/>
              </a:defRPr>
            </a:pPr>
            <a:r>
              <a:t>Translate &amp;</a:t>
            </a:r>
            <a:br/>
            <a:r>
              <a:t>Forward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23759" y="2697480"/>
            <a:ext cx="1828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CCCCCC"/>
                </a:solidFill>
                <a:latin typeface="Segoe UI"/>
              </a:defRPr>
            </a:pPr>
            <a:r>
              <a:t>Map to service's</a:t>
            </a:r>
            <a:br/>
            <a:r>
              <a:t>native API +</a:t>
            </a:r>
            <a:br/>
            <a:r>
              <a:t>X-User-* headers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601200" y="2240280"/>
            <a:ext cx="2011680" cy="1371600"/>
          </a:xfrm>
          <a:prstGeom prst="roundRect">
            <a:avLst/>
          </a:prstGeom>
          <a:solidFill>
            <a:srgbClr val="262642"/>
          </a:solidFill>
          <a:ln w="19050">
            <a:solidFill>
              <a:srgbClr val="4FC3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92640" y="22860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4FC3FF"/>
                </a:solidFill>
                <a:latin typeface="Segoe UI"/>
              </a:defRPr>
            </a:pPr>
            <a:r>
              <a:t>Extract reply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92640" y="2697480"/>
            <a:ext cx="1828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CCCCCC"/>
                </a:solidFill>
                <a:latin typeface="Segoe UI"/>
              </a:defRPr>
            </a:pPr>
            <a:r>
              <a:t>Send activity</a:t>
            </a:r>
            <a:br/>
            <a:r>
              <a:t>back to Copilot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74320" y="3840480"/>
            <a:ext cx="5760720" cy="2743200"/>
          </a:xfrm>
          <a:prstGeom prst="roundRect">
            <a:avLst/>
          </a:prstGeom>
          <a:solidFill>
            <a:srgbClr val="262642"/>
          </a:solidFill>
          <a:ln w="19050">
            <a:solidFill>
              <a:srgbClr val="4444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" y="3931920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4FC3FF"/>
                </a:solidFill>
                <a:latin typeface="Segoe UI"/>
              </a:defRPr>
            </a:pPr>
            <a:r>
              <a:t>Service Client = Adaptation Layer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4297680"/>
            <a:ext cx="5394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Segoe UI"/>
              </a:defRPr>
            </a:pPr>
            <a:r>
              <a:t>A small HTTP adapter class in the gateway maps Copilot conversations to your service: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4892040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4FC3FF"/>
                </a:solidFill>
                <a:latin typeface="Consolas"/>
              </a:defRPr>
            </a:pPr>
            <a:r>
              <a:t>conversation.id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651760" y="4892040"/>
            <a:ext cx="274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8888AA"/>
                </a:solidFill>
                <a:latin typeface="Segoe UI"/>
              </a:defRPr>
            </a:pPr>
            <a:r>
              <a:t>→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017520" y="4892040"/>
            <a:ext cx="3017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Segoe UI"/>
              </a:defRPr>
            </a:pPr>
            <a:r>
              <a:t>Session / thread / chat ID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5221224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4FC3FF"/>
                </a:solidFill>
                <a:latin typeface="Consolas"/>
              </a:defRPr>
            </a:pPr>
            <a:r>
              <a:t>message text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651760" y="5221224"/>
            <a:ext cx="274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8888AA"/>
                </a:solidFill>
                <a:latin typeface="Segoe UI"/>
              </a:defRPr>
            </a:pPr>
            <a:r>
              <a:t>→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017520" y="5221224"/>
            <a:ext cx="3017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Segoe UI"/>
              </a:defRPr>
            </a:pPr>
            <a:r>
              <a:t>Request body (text, prompt, input, ...)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5550408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4FC3FF"/>
                </a:solidFill>
                <a:latin typeface="Consolas"/>
              </a:defRPr>
            </a:pPr>
            <a:r>
              <a:t>reply extraction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651760" y="5550408"/>
            <a:ext cx="274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8888AA"/>
                </a:solidFill>
                <a:latin typeface="Segoe UI"/>
              </a:defRPr>
            </a:pPr>
            <a:r>
              <a:t>→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017520" y="5550408"/>
            <a:ext cx="3017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Segoe UI"/>
              </a:defRPr>
            </a:pPr>
            <a:r>
              <a:t>Response field (reply, output, content, ...)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8640" y="5879592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4FC3FF"/>
                </a:solidFill>
                <a:latin typeface="Consolas"/>
              </a:defRPr>
            </a:pPr>
            <a:r>
              <a:t>Bearer token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651760" y="5879592"/>
            <a:ext cx="274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8888AA"/>
                </a:solidFill>
                <a:latin typeface="Segoe UI"/>
              </a:defRPr>
            </a:pPr>
            <a:r>
              <a:t>→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017520" y="5879592"/>
            <a:ext cx="3017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Segoe UI"/>
              </a:defRPr>
            </a:pPr>
            <a:r>
              <a:t>Auth header, API key, or custom field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309360" y="3840480"/>
            <a:ext cx="5577840" cy="2743200"/>
          </a:xfrm>
          <a:prstGeom prst="roundRect">
            <a:avLst/>
          </a:prstGeom>
          <a:solidFill>
            <a:srgbClr val="262642"/>
          </a:solidFill>
          <a:ln w="19050">
            <a:solidFill>
              <a:srgbClr val="4444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92240" y="3931920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B336"/>
                </a:solidFill>
                <a:latin typeface="Segoe UI"/>
              </a:defRPr>
            </a:pPr>
            <a:r>
              <a:t>Implementation Details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583680" y="4389120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6666"/>
                </a:solidFill>
                <a:latin typeface="Segoe UI"/>
              </a:defRPr>
            </a:pPr>
            <a:r>
              <a:t>JWT validation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595360" y="4389120"/>
            <a:ext cx="3108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Segoe UI"/>
              </a:defRPr>
            </a:pPr>
            <a:r>
              <a:t>Verify signature, audience, issuer, expiry + extract claims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583680" y="4892040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4FC3FF"/>
                </a:solidFill>
                <a:latin typeface="Segoe UI"/>
              </a:defRPr>
            </a:pPr>
            <a:r>
              <a:t>Dual auth handlers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595360" y="4892040"/>
            <a:ext cx="3108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Segoe UI"/>
              </a:defRPr>
            </a:pPr>
            <a:r>
              <a:t>Agentic channel + standard Teams connector paths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583680" y="5394960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A726"/>
                </a:solidFill>
                <a:latin typeface="Segoe UI"/>
              </a:defRPr>
            </a:pPr>
            <a:r>
              <a:t>Invoke handling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595360" y="5394960"/>
            <a:ext cx="3108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Segoe UI"/>
              </a:defRPr>
            </a:pPr>
            <a:r>
              <a:t>No-op for SSO handshake or sign-in breaks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583680" y="5897880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B336"/>
                </a:solidFill>
                <a:latin typeface="Segoe UI"/>
              </a:defRPr>
            </a:pPr>
            <a:r>
              <a:t>Claim forwarding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595360" y="5897880"/>
            <a:ext cx="3108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Segoe UI"/>
              </a:defRPr>
            </a:pPr>
            <a:r>
              <a:t>X-User-Id, X-User-UPN headers to service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54864"/>
          </a:xfrm>
          <a:prstGeom prst="roundRect">
            <a:avLst/>
          </a:prstGeom>
          <a:solidFill>
            <a:srgbClr val="00B3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Segoe UI"/>
              </a:defRPr>
            </a:pPr>
            <a:r>
              <a:t>Component 2: The Agentic Service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88AA"/>
                </a:solidFill>
                <a:latin typeface="Segoe UI"/>
              </a:defRPr>
            </a:pPr>
            <a:r>
              <a:t>Stateful API — knows nothing about Bot Framework or JWT validation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1371600"/>
            <a:ext cx="5669280" cy="5029200"/>
          </a:xfrm>
          <a:prstGeom prst="roundRect">
            <a:avLst/>
          </a:prstGeom>
          <a:solidFill>
            <a:srgbClr val="262642"/>
          </a:solidFill>
          <a:ln w="19050">
            <a:solidFill>
              <a:srgbClr val="4444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46304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B336"/>
                </a:solidFill>
                <a:latin typeface="Segoe UI"/>
              </a:defRPr>
            </a:pPr>
            <a:r>
              <a:t>Request Flow (Gateway Trust)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965960"/>
            <a:ext cx="320040" cy="320040"/>
          </a:xfrm>
          <a:prstGeom prst="roundRect">
            <a:avLst/>
          </a:prstGeom>
          <a:solidFill>
            <a:srgbClr val="00B3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965960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196596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Extract user identity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17520" y="196596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Segoe UI"/>
              </a:defRPr>
            </a:pPr>
            <a:r>
              <a:t>From forwarded headers (X-User-Id, X-User-UPN)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2468880"/>
            <a:ext cx="320040" cy="320040"/>
          </a:xfrm>
          <a:prstGeom prst="roundRect">
            <a:avLst/>
          </a:prstGeom>
          <a:solidFill>
            <a:srgbClr val="00B3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2468880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246888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Bind to ContextVar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17520" y="246888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Segoe UI"/>
              </a:defRPr>
            </a:pPr>
            <a:r>
              <a:t>user_assertion + claims → async-safe ContextVar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2971800"/>
            <a:ext cx="320040" cy="320040"/>
          </a:xfrm>
          <a:prstGeom prst="roundRect">
            <a:avLst/>
          </a:prstGeom>
          <a:solidFill>
            <a:srgbClr val="00B3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2971800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297180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Route to session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17520" y="297180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Segoe UI"/>
              </a:defRPr>
            </a:pPr>
            <a:r>
              <a:t>owner_id from X-User-Id → 403 on mismatch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3474720"/>
            <a:ext cx="320040" cy="320040"/>
          </a:xfrm>
          <a:prstGeom prst="roundRect">
            <a:avLst/>
          </a:prstGeom>
          <a:solidFill>
            <a:srgbClr val="00B3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3474720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347472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Run agentic logic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017520" y="347472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Segoe UI"/>
              </a:defRPr>
            </a:pPr>
            <a:r>
              <a:t>Any framework: MAF, LangChain, SK, custom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7200" y="3977640"/>
            <a:ext cx="320040" cy="320040"/>
          </a:xfrm>
          <a:prstGeom prst="roundRect">
            <a:avLst/>
          </a:prstGeom>
          <a:solidFill>
            <a:srgbClr val="00B3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" y="3977640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397764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OBO #2 when needed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017520" y="397764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Segoe UI"/>
              </a:defRPr>
            </a:pPr>
            <a:r>
              <a:t>ContextVar assertion → MSAL → downstream token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57200" y="4480560"/>
            <a:ext cx="320040" cy="320040"/>
          </a:xfrm>
          <a:prstGeom prst="roundRect">
            <a:avLst/>
          </a:prstGeom>
          <a:solidFill>
            <a:srgbClr val="00B3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7200" y="4480560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" y="448056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Return reply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017520" y="448056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Segoe UI"/>
              </a:defRPr>
            </a:pPr>
            <a:r>
              <a:t>200 {session_id, reply, turns}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217920" y="1371600"/>
            <a:ext cx="5669280" cy="2468880"/>
          </a:xfrm>
          <a:prstGeom prst="roundRect">
            <a:avLst/>
          </a:prstGeom>
          <a:solidFill>
            <a:srgbClr val="262642"/>
          </a:solidFill>
          <a:ln w="19050">
            <a:solidFill>
              <a:srgbClr val="4444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00800" y="146304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4FC3FF"/>
                </a:solidFill>
                <a:latin typeface="Segoe UI"/>
              </a:defRPr>
            </a:pPr>
            <a:r>
              <a:t>Minimum Service Requirements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83680" y="1920240"/>
            <a:ext cx="182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B336"/>
                </a:solidFill>
                <a:latin typeface="Segoe UI"/>
              </a:defRPr>
            </a:pPr>
            <a:r>
              <a:t>✓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12280" y="1920240"/>
            <a:ext cx="4846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Segoe UI"/>
              </a:defRPr>
            </a:pPr>
            <a:r>
              <a:t>Accept forwarded Bearer token (for OBO #2)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83680" y="2212848"/>
            <a:ext cx="182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B336"/>
                </a:solidFill>
                <a:latin typeface="Segoe UI"/>
              </a:defRPr>
            </a:pPr>
            <a:r>
              <a:t>✓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812280" y="2212848"/>
            <a:ext cx="4846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Segoe UI"/>
              </a:defRPr>
            </a:pPr>
            <a:r>
              <a:t>Accept forwarded claim headers (X-User-Id, etc.)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583680" y="2505456"/>
            <a:ext cx="182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B336"/>
                </a:solidFill>
                <a:latin typeface="Segoe UI"/>
              </a:defRPr>
            </a:pPr>
            <a:r>
              <a:t>✓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812280" y="2505456"/>
            <a:ext cx="4846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Segoe UI"/>
              </a:defRPr>
            </a:pPr>
            <a:r>
              <a:t>Session/thread identity across turns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583680" y="2798064"/>
            <a:ext cx="182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B336"/>
                </a:solidFill>
                <a:latin typeface="Segoe UI"/>
              </a:defRPr>
            </a:pPr>
            <a:r>
              <a:t>✓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812280" y="2798064"/>
            <a:ext cx="4846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Segoe UI"/>
              </a:defRPr>
            </a:pPr>
            <a:r>
              <a:t>Message exchange endpoint (any shape)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583680" y="3090672"/>
            <a:ext cx="182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B336"/>
                </a:solidFill>
                <a:latin typeface="Segoe UI"/>
              </a:defRPr>
            </a:pPr>
            <a:r>
              <a:t>✓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812280" y="3090672"/>
            <a:ext cx="4846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Segoe UI"/>
              </a:defRPr>
            </a:pPr>
            <a:r>
              <a:t>Internal-only ingress (not public)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583680" y="3383280"/>
            <a:ext cx="182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B336"/>
                </a:solidFill>
                <a:latin typeface="Segoe UI"/>
              </a:defRPr>
            </a:pPr>
            <a:r>
              <a:t>✓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812280" y="3383280"/>
            <a:ext cx="4846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Segoe UI"/>
              </a:defRPr>
            </a:pPr>
            <a:r>
              <a:t>OBO #2 only if user-delegated access needed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217920" y="4114800"/>
            <a:ext cx="5669280" cy="2286000"/>
          </a:xfrm>
          <a:prstGeom prst="roundRect">
            <a:avLst/>
          </a:prstGeom>
          <a:solidFill>
            <a:srgbClr val="262642"/>
          </a:solidFill>
          <a:ln w="19050">
            <a:solidFill>
              <a:srgbClr val="4444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400800" y="420624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B336"/>
                </a:solidFill>
                <a:latin typeface="Segoe UI"/>
              </a:defRPr>
            </a:pPr>
            <a:r>
              <a:t>Your Agentic Logic Goes Here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583680" y="4663440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4FC3FF"/>
                </a:solidFill>
                <a:latin typeface="Segoe UI"/>
              </a:defRPr>
            </a:pPr>
            <a:r>
              <a:t>Microsoft Agent Framework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144000" y="4663440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Segoe UI"/>
              </a:defRPr>
            </a:pPr>
            <a:r>
              <a:t>HandoffBuilder, ConcurrentBuilder, etc.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583680" y="4956048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4FC3FF"/>
                </a:solidFill>
                <a:latin typeface="Segoe UI"/>
              </a:defRPr>
            </a:pPr>
            <a:r>
              <a:t>LangChain / LangGraph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144000" y="4956048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Segoe UI"/>
              </a:defRPr>
            </a:pPr>
            <a:r>
              <a:t>Chains, graphs, tool calling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583680" y="5248656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4FC3FF"/>
                </a:solidFill>
                <a:latin typeface="Segoe UI"/>
              </a:defRPr>
            </a:pPr>
            <a:r>
              <a:t>Semantic Kernel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144000" y="5248656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Segoe UI"/>
              </a:defRPr>
            </a:pPr>
            <a:r>
              <a:t>Planners and plugins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583680" y="5541264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4FC3FF"/>
                </a:solidFill>
                <a:latin typeface="Segoe UI"/>
              </a:defRPr>
            </a:pPr>
            <a:r>
              <a:t>Custom code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144000" y="5541264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Segoe UI"/>
              </a:defRPr>
            </a:pPr>
            <a:r>
              <a:t>Direct OpenAI SDK with tool loops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583680" y="5833872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4FC3FF"/>
                </a:solidFill>
                <a:latin typeface="Segoe UI"/>
              </a:defRPr>
            </a:pPr>
            <a:r>
              <a:t>Any other framework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144000" y="5833872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Segoe UI"/>
              </a:defRPr>
            </a:pPr>
            <a:r>
              <a:t>CrewAI, AutoGen, etc.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54864"/>
          </a:xfrm>
          <a:prstGeom prst="roundRect">
            <a:avLst/>
          </a:prstGeom>
          <a:solidFill>
            <a:srgbClr val="FF6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Segoe UI"/>
              </a:defRPr>
            </a:pPr>
            <a:r>
              <a:t>ContextVar + OBO Pattern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88AA"/>
                </a:solidFill>
                <a:latin typeface="Segoe UI"/>
              </a:defRPr>
            </a:pPr>
            <a:r>
              <a:t>The core pattern that makes delegated auth work across any framework stack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1371600"/>
            <a:ext cx="5760720" cy="5029200"/>
          </a:xfrm>
          <a:prstGeom prst="roundRect">
            <a:avLst/>
          </a:prstGeom>
          <a:solidFill>
            <a:srgbClr val="262642"/>
          </a:solidFill>
          <a:ln w="19050">
            <a:solidFill>
              <a:srgbClr val="4444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463040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66FF"/>
                </a:solidFill>
                <a:latin typeface="Segoe UI"/>
              </a:defRPr>
            </a:pPr>
            <a:r>
              <a:t>ContextVar: Bind + Reset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920240"/>
            <a:ext cx="5303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Consolas"/>
              </a:defRPr>
            </a:pPr>
            <a:r>
              <a:t>from contextvars import ContextVar, Token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139696"/>
            <a:ext cx="5303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Consolas"/>
              </a:defRPr>
            </a:pPr>
          </a:p>
        </p:txBody>
      </p:sp>
      <p:sp>
        <p:nvSpPr>
          <p:cNvPr id="9" name="TextBox 8"/>
          <p:cNvSpPr txBox="1"/>
          <p:nvPr/>
        </p:nvSpPr>
        <p:spPr>
          <a:xfrm>
            <a:off x="548640" y="2359152"/>
            <a:ext cx="5303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Consolas"/>
              </a:defRPr>
            </a:pPr>
            <a:r>
              <a:t>_USER_ASSERTION: ContextVar[str | None] =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578608"/>
            <a:ext cx="5303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Consolas"/>
              </a:defRPr>
            </a:pPr>
            <a:r>
              <a:t>    ContextVar('user_assertion', default=None)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798064"/>
            <a:ext cx="5303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Consolas"/>
              </a:defRPr>
            </a:pPr>
          </a:p>
        </p:txBody>
      </p:sp>
      <p:sp>
        <p:nvSpPr>
          <p:cNvPr id="12" name="TextBox 11"/>
          <p:cNvSpPr txBox="1"/>
          <p:nvPr/>
        </p:nvSpPr>
        <p:spPr>
          <a:xfrm>
            <a:off x="548640" y="3017520"/>
            <a:ext cx="5303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Consolas"/>
              </a:defRPr>
            </a:pPr>
            <a:r>
              <a:t>def bind_identity(assertion, claims):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3236976"/>
            <a:ext cx="5303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Consolas"/>
              </a:defRPr>
            </a:pPr>
            <a:r>
              <a:t>    return (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3456432"/>
            <a:ext cx="5303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Consolas"/>
              </a:defRPr>
            </a:pPr>
            <a:r>
              <a:t>        _USER_ASSERTION.set(assertion),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3675888"/>
            <a:ext cx="5303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Consolas"/>
              </a:defRPr>
            </a:pPr>
            <a:r>
              <a:t>        _USER_CLAIMS.set(claims),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3895344"/>
            <a:ext cx="5303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Consolas"/>
              </a:defRPr>
            </a:pPr>
            <a:r>
              <a:t>    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4114800"/>
            <a:ext cx="5303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Consolas"/>
              </a:defRPr>
            </a:pPr>
          </a:p>
        </p:txBody>
      </p:sp>
      <p:sp>
        <p:nvSpPr>
          <p:cNvPr id="18" name="TextBox 17"/>
          <p:cNvSpPr txBox="1"/>
          <p:nvPr/>
        </p:nvSpPr>
        <p:spPr>
          <a:xfrm>
            <a:off x="548640" y="4334256"/>
            <a:ext cx="5303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0B336"/>
                </a:solidFill>
                <a:latin typeface="Consolas"/>
              </a:defRPr>
            </a:pPr>
            <a:r>
              <a:t># In middleware: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4553712"/>
            <a:ext cx="5303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Consolas"/>
              </a:defRPr>
            </a:pPr>
            <a:r>
              <a:t>a_tok, c_tok = bind_identity(raw_jwt, claims)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4773168"/>
            <a:ext cx="5303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Consolas"/>
              </a:defRPr>
            </a:pPr>
            <a:r>
              <a:t>try: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4992624"/>
            <a:ext cx="5303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Consolas"/>
              </a:defRPr>
            </a:pPr>
            <a:r>
              <a:t>    response = await call_next(request)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5212080"/>
            <a:ext cx="5303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A726"/>
                </a:solidFill>
                <a:latin typeface="Consolas"/>
              </a:defRPr>
            </a:pPr>
            <a:r>
              <a:t>finally: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5431536"/>
            <a:ext cx="5303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A726"/>
                </a:solidFill>
                <a:latin typeface="Consolas"/>
              </a:defRPr>
            </a:pPr>
            <a:r>
              <a:t>    _USER_ASSERTION.reset(a_tok)  # always!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5650992"/>
            <a:ext cx="5303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Consolas"/>
              </a:defRPr>
            </a:pPr>
            <a:r>
              <a:t>    _USER_CLAIMS.reset(c_tok)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309360" y="1371600"/>
            <a:ext cx="5577840" cy="2926080"/>
          </a:xfrm>
          <a:prstGeom prst="roundRect">
            <a:avLst/>
          </a:prstGeom>
          <a:solidFill>
            <a:srgbClr val="262642"/>
          </a:solidFill>
          <a:ln w="19050">
            <a:solidFill>
              <a:srgbClr val="4444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92240" y="146304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A726"/>
                </a:solidFill>
                <a:latin typeface="Segoe UI"/>
              </a:defRPr>
            </a:pPr>
            <a:r>
              <a:t>OBO #2: Downstream Token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80" y="1920240"/>
            <a:ext cx="5120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Consolas"/>
              </a:defRPr>
            </a:pPr>
            <a:r>
              <a:t>import msal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0" y="2139696"/>
            <a:ext cx="5120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Consolas"/>
              </a:defRPr>
            </a:pPr>
          </a:p>
        </p:txBody>
      </p:sp>
      <p:sp>
        <p:nvSpPr>
          <p:cNvPr id="29" name="TextBox 28"/>
          <p:cNvSpPr txBox="1"/>
          <p:nvPr/>
        </p:nvSpPr>
        <p:spPr>
          <a:xfrm>
            <a:off x="6583680" y="2359152"/>
            <a:ext cx="5120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Consolas"/>
              </a:defRPr>
            </a:pPr>
            <a:r>
              <a:t>app = msal.ConfidentialClientApplication(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83680" y="2578608"/>
            <a:ext cx="5120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Consolas"/>
              </a:defRPr>
            </a:pPr>
            <a:r>
              <a:t>    client_id=SERVICE_CLIENT_ID,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83680" y="2798064"/>
            <a:ext cx="5120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Consolas"/>
              </a:defRPr>
            </a:pPr>
            <a:r>
              <a:t>    client_credential=SERVICE_CLIENT_SECRET,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83680" y="3017520"/>
            <a:ext cx="5120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Consolas"/>
              </a:defRPr>
            </a:pPr>
            <a:r>
              <a:t>    authority=f'https://login.microsoftonline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83680" y="3236976"/>
            <a:ext cx="5120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Consolas"/>
              </a:defRPr>
            </a:pPr>
            <a:r>
              <a:t>              .com/{TENANT_ID}',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83680" y="3456432"/>
            <a:ext cx="5120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Consolas"/>
              </a:defRPr>
            </a:pPr>
            <a:r>
              <a:t>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83680" y="3675888"/>
            <a:ext cx="5120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Consolas"/>
              </a:defRPr>
            </a:pPr>
          </a:p>
        </p:txBody>
      </p:sp>
      <p:sp>
        <p:nvSpPr>
          <p:cNvPr id="36" name="TextBox 35"/>
          <p:cNvSpPr txBox="1"/>
          <p:nvPr/>
        </p:nvSpPr>
        <p:spPr>
          <a:xfrm>
            <a:off x="6583680" y="3895344"/>
            <a:ext cx="5120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Consolas"/>
              </a:defRPr>
            </a:pPr>
            <a:r>
              <a:t>result = app.acquire_token_on_behalf_of(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583680" y="4114800"/>
            <a:ext cx="5120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Consolas"/>
              </a:defRPr>
            </a:pPr>
            <a:r>
              <a:t>    user_assertion=_USER_ASSERTION.get(),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83680" y="4334256"/>
            <a:ext cx="5120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Consolas"/>
              </a:defRPr>
            </a:pPr>
            <a:r>
              <a:t>    scopes=['&lt;downstream&gt;/.default'],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583680" y="4553712"/>
            <a:ext cx="5120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Consolas"/>
              </a:defRPr>
            </a:pPr>
            <a:r>
              <a:t>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583680" y="4773168"/>
            <a:ext cx="5120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Consolas"/>
              </a:defRPr>
            </a:pPr>
            <a:r>
              <a:t>token = result['access_token']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309360" y="4572000"/>
            <a:ext cx="5577840" cy="1828800"/>
          </a:xfrm>
          <a:prstGeom prst="roundRect">
            <a:avLst/>
          </a:prstGeom>
          <a:solidFill>
            <a:srgbClr val="262642"/>
          </a:solidFill>
          <a:ln w="19050">
            <a:solidFill>
              <a:srgbClr val="4444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492240" y="466344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4FC3FF"/>
                </a:solidFill>
                <a:latin typeface="Segoe UI"/>
              </a:defRPr>
            </a:pPr>
            <a:r>
              <a:t>Why ContextVar?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583680" y="5074920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4FC3FF"/>
                </a:solidFill>
                <a:latin typeface="Segoe UI"/>
              </a:defRPr>
            </a:pPr>
            <a:r>
              <a:t>Async-safe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229600" y="5074920"/>
            <a:ext cx="3474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Segoe UI"/>
              </a:defRPr>
            </a:pPr>
            <a:r>
              <a:t>Each concurrent request gets its own scope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583680" y="5367528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4FC3FF"/>
                </a:solidFill>
                <a:latin typeface="Segoe UI"/>
              </a:defRPr>
            </a:pPr>
            <a:r>
              <a:t>Framework-agnostic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229600" y="5367528"/>
            <a:ext cx="3474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Segoe UI"/>
              </a:defRPr>
            </a:pPr>
            <a:r>
              <a:t>Works with FastAPI, Flask, Django, raw asyncio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583680" y="5660136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4FC3FF"/>
                </a:solidFill>
                <a:latin typeface="Segoe UI"/>
              </a:defRPr>
            </a:pPr>
            <a:r>
              <a:t>Clean stack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229600" y="5660136"/>
            <a:ext cx="3474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Segoe UI"/>
              </a:defRPr>
            </a:pPr>
            <a:r>
              <a:t>No need to thread assertion through every function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583680" y="5952744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4FC3FF"/>
                </a:solidFill>
                <a:latin typeface="Segoe UI"/>
              </a:defRPr>
            </a:pPr>
            <a:r>
              <a:t>Always reset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229600" y="5952744"/>
            <a:ext cx="3474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Segoe UI"/>
              </a:defRPr>
            </a:pPr>
            <a:r>
              <a:t>finally block prevents leaking across requests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54864"/>
          </a:xfrm>
          <a:prstGeom prst="roundRect">
            <a:avLst/>
          </a:prstGeom>
          <a:solidFill>
            <a:srgbClr val="00B3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Segoe UI"/>
              </a:defRPr>
            </a:pPr>
            <a:r>
              <a:t>Session Management &amp; API Contract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20" y="1097280"/>
            <a:ext cx="5760720" cy="5303520"/>
          </a:xfrm>
          <a:prstGeom prst="roundRect">
            <a:avLst/>
          </a:prstGeom>
          <a:solidFill>
            <a:srgbClr val="262642"/>
          </a:solidFill>
          <a:ln w="19050">
            <a:solidFill>
              <a:srgbClr val="4444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B336"/>
                </a:solidFill>
                <a:latin typeface="Segoe UI"/>
              </a:defRPr>
            </a:pPr>
            <a:r>
              <a:t>Session Store (MVP: in-memory)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9164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4FC3FF"/>
                </a:solidFill>
                <a:latin typeface="Segoe UI"/>
              </a:defRPr>
            </a:pPr>
            <a:r>
              <a:t>Owner isolation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468880" y="1691640"/>
            <a:ext cx="3383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Segoe UI"/>
              </a:defRPr>
            </a:pPr>
            <a:r>
              <a:t>Every session has owner_id from X-User-Id.</a:t>
            </a:r>
            <a:br/>
            <a:r>
              <a:t>Reject cross-user access with 403.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404872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4FC3FF"/>
                </a:solidFill>
                <a:latin typeface="Segoe UI"/>
              </a:defRPr>
            </a:pPr>
            <a:r>
              <a:t>Turn windowing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68880" y="2404872"/>
            <a:ext cx="3383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Segoe UI"/>
              </a:defRPr>
            </a:pPr>
            <a:r>
              <a:t>Cap stored turns at max_turns x 2.</a:t>
            </a:r>
            <a:br/>
            <a:r>
              <a:t>Prevents unbounded memory growth.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118104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4FC3FF"/>
                </a:solidFill>
                <a:latin typeface="Segoe UI"/>
              </a:defRPr>
            </a:pPr>
            <a:r>
              <a:t>Concurrency lock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468880" y="3118104"/>
            <a:ext cx="3383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Segoe UI"/>
              </a:defRPr>
            </a:pPr>
            <a:r>
              <a:t>asyncio.Lock() per session.</a:t>
            </a:r>
            <a:br/>
            <a:r>
              <a:t>Prevents interleaved turns.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831336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4FC3FF"/>
                </a:solidFill>
                <a:latin typeface="Segoe UI"/>
              </a:defRPr>
            </a:pPr>
            <a:r>
              <a:t>Conversation mapping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68880" y="3831336"/>
            <a:ext cx="3383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Segoe UI"/>
              </a:defRPr>
            </a:pPr>
            <a:r>
              <a:t>conversation.id maps 1:1 to session_id.</a:t>
            </a:r>
            <a:br/>
            <a:r>
              <a:t>Auto-create on 404.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4544568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4FC3FF"/>
                </a:solidFill>
                <a:latin typeface="Segoe UI"/>
              </a:defRPr>
            </a:pPr>
            <a:r>
              <a:t>Scaling path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468880" y="4544568"/>
            <a:ext cx="3383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Segoe UI"/>
              </a:defRPr>
            </a:pPr>
            <a:r>
              <a:t>Replace with Redis / Cosmos DB.</a:t>
            </a:r>
            <a:br/>
            <a:r>
              <a:t>ContextVar + OBO unaffected.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9360" y="1097280"/>
            <a:ext cx="5577840" cy="5303520"/>
          </a:xfrm>
          <a:prstGeom prst="roundRect">
            <a:avLst/>
          </a:prstGeom>
          <a:solidFill>
            <a:srgbClr val="262642"/>
          </a:solidFill>
          <a:ln w="19050">
            <a:solidFill>
              <a:srgbClr val="4444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92240" y="118872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B336"/>
                </a:solidFill>
                <a:latin typeface="Segoe UI"/>
              </a:defRPr>
            </a:pPr>
            <a:r>
              <a:t>Service API Contract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1600200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888AA"/>
                </a:solidFill>
                <a:latin typeface="Segoe UI"/>
              </a:defRPr>
            </a:pPr>
            <a:r>
              <a:t>Reference contract (adapt the gateway if yours differs):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0" y="2103120"/>
            <a:ext cx="548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B336"/>
                </a:solidFill>
                <a:latin typeface="Segoe UI"/>
              </a:defRPr>
            </a:pPr>
            <a:r>
              <a:t>POST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78040" y="2103120"/>
            <a:ext cx="2926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Consolas"/>
              </a:defRPr>
            </a:pPr>
            <a:r>
              <a:t>/api/chat/sessions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0" y="2359152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888AA"/>
                </a:solidFill>
                <a:latin typeface="Segoe UI"/>
              </a:defRPr>
            </a:pPr>
            <a:r>
              <a:t>Create session — Returns session_id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0" y="2670048"/>
            <a:ext cx="548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B336"/>
                </a:solidFill>
                <a:latin typeface="Segoe UI"/>
              </a:defRPr>
            </a:pPr>
            <a:r>
              <a:t>POST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78040" y="2670048"/>
            <a:ext cx="2926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Consolas"/>
              </a:defRPr>
            </a:pPr>
            <a:r>
              <a:t>/api/chat/sessions/{id}/messages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0" y="2926080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888AA"/>
                </a:solidFill>
                <a:latin typeface="Segoe UI"/>
              </a:defRPr>
            </a:pPr>
            <a:r>
              <a:t>Send message — Returns reply + turns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80" y="3236976"/>
            <a:ext cx="548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4FC3FF"/>
                </a:solidFill>
                <a:latin typeface="Segoe UI"/>
              </a:defRPr>
            </a:pPr>
            <a:r>
              <a:t>GET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78040" y="3236976"/>
            <a:ext cx="2926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Consolas"/>
              </a:defRPr>
            </a:pPr>
            <a:r>
              <a:t>/api/chat/sessions/{id}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80" y="3493008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888AA"/>
                </a:solidFill>
                <a:latin typeface="Segoe UI"/>
              </a:defRPr>
            </a:pPr>
            <a:r>
              <a:t>Get session — Returns turn history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0" y="3803904"/>
            <a:ext cx="548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4FC3FF"/>
                </a:solidFill>
                <a:latin typeface="Segoe UI"/>
              </a:defRPr>
            </a:pPr>
            <a:r>
              <a:t>GET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78040" y="3803904"/>
            <a:ext cx="2926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Consolas"/>
              </a:defRPr>
            </a:pPr>
            <a:r>
              <a:t>/healthz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83680" y="4059936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888AA"/>
                </a:solidFill>
                <a:latin typeface="Segoe UI"/>
              </a:defRPr>
            </a:pPr>
            <a:r>
              <a:t>Health check — No auth required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92240" y="4526280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A726"/>
                </a:solidFill>
                <a:latin typeface="Segoe UI"/>
              </a:defRPr>
            </a:pPr>
            <a:r>
              <a:t>Response Codes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83680" y="493776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B336"/>
                </a:solidFill>
                <a:latin typeface="Consolas"/>
              </a:defRPr>
            </a:pPr>
            <a:r>
              <a:t>200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132320" y="493776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Segoe UI"/>
              </a:defRPr>
            </a:pPr>
            <a:r>
              <a:t>Success with reply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83680" y="5230368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6666"/>
                </a:solidFill>
                <a:latin typeface="Consolas"/>
              </a:defRPr>
            </a:pPr>
            <a:r>
              <a:t>401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132320" y="523036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Segoe UI"/>
              </a:defRPr>
            </a:pPr>
            <a:r>
              <a:t>Bad or missing token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83680" y="5522976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6666"/>
                </a:solidFill>
                <a:latin typeface="Consolas"/>
              </a:defRPr>
            </a:pPr>
            <a:r>
              <a:t>403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132320" y="5522976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Segoe UI"/>
              </a:defRPr>
            </a:pPr>
            <a:r>
              <a:t>Session belongs to different user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83680" y="5815584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A726"/>
                </a:solidFill>
                <a:latin typeface="Consolas"/>
              </a:defRPr>
            </a:pPr>
            <a:r>
              <a:t>404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132320" y="5815584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Segoe UI"/>
              </a:defRPr>
            </a:pPr>
            <a:r>
              <a:t>Session not found (gateway auto-creates + retries)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54864"/>
          </a:xfrm>
          <a:prstGeom prst="roundRect">
            <a:avLst/>
          </a:prstGeom>
          <a:solidFill>
            <a:srgbClr val="BB6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Segoe UI"/>
              </a:defRPr>
            </a:pPr>
            <a:r>
              <a:t>Component 3: M365 App Package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88AA"/>
                </a:solidFill>
                <a:latin typeface="Segoe UI"/>
              </a:defRPr>
            </a:pPr>
            <a:r>
              <a:t>ZIP containing manifest + icons that registers the gateway as a Custom Engine Agent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1371600"/>
            <a:ext cx="3657600" cy="2103120"/>
          </a:xfrm>
          <a:prstGeom prst="roundRect">
            <a:avLst/>
          </a:prstGeom>
          <a:solidFill>
            <a:srgbClr val="262642"/>
          </a:solidFill>
          <a:ln w="19050">
            <a:solidFill>
              <a:srgbClr val="BB66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46304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BB66FF"/>
                </a:solidFill>
                <a:latin typeface="Segoe UI"/>
              </a:defRPr>
            </a:pPr>
            <a:r>
              <a:t>Package Contents (ZIP)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965960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Consolas"/>
              </a:defRPr>
            </a:pPr>
            <a:r>
              <a:t>manifest.json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20240" y="196596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Segoe UI"/>
              </a:defRPr>
            </a:pPr>
            <a:r>
              <a:t>Bot + SSO + CEA config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286000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Consolas"/>
              </a:defRPr>
            </a:pPr>
            <a:r>
              <a:t>color.png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20240" y="228600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Segoe UI"/>
              </a:defRPr>
            </a:pPr>
            <a:r>
              <a:t>192x192 color icon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606040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Consolas"/>
              </a:defRPr>
            </a:pPr>
            <a:r>
              <a:t>outline.png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20240" y="260604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Segoe UI"/>
              </a:defRPr>
            </a:pPr>
            <a:r>
              <a:t>32x32 outline icon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89120" y="1371600"/>
            <a:ext cx="7498079" cy="5029200"/>
          </a:xfrm>
          <a:prstGeom prst="roundRect">
            <a:avLst/>
          </a:prstGeom>
          <a:solidFill>
            <a:srgbClr val="262642"/>
          </a:solidFill>
          <a:ln w="19050">
            <a:solidFill>
              <a:srgbClr val="4444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0" y="1463040"/>
            <a:ext cx="7132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BB66FF"/>
                </a:solidFill>
                <a:latin typeface="Segoe UI"/>
              </a:defRPr>
            </a:pPr>
            <a:r>
              <a:t>Critical Manifest Fields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63440" y="1965960"/>
            <a:ext cx="2468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FC3FF"/>
                </a:solidFill>
                <a:latin typeface="Consolas"/>
              </a:defRPr>
            </a:pPr>
            <a:r>
              <a:t>bots[0].botId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0" y="1965960"/>
            <a:ext cx="2468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Consolas"/>
              </a:defRPr>
            </a:pPr>
            <a:r>
              <a:t>BOT_APP_ID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0" y="1965960"/>
            <a:ext cx="2103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888AA"/>
                </a:solidFill>
                <a:latin typeface="Segoe UI"/>
              </a:defRPr>
            </a:pPr>
            <a:r>
              <a:t>Bot registration app ID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63440" y="2286000"/>
            <a:ext cx="2468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FC3FF"/>
                </a:solidFill>
                <a:latin typeface="Consolas"/>
              </a:defRPr>
            </a:pPr>
            <a:r>
              <a:t>bots[0].scopes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32320" y="2286000"/>
            <a:ext cx="2468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Consolas"/>
              </a:defRPr>
            </a:pPr>
            <a:r>
              <a:t>["personal"]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01200" y="2286000"/>
            <a:ext cx="2103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888AA"/>
                </a:solidFill>
                <a:latin typeface="Segoe UI"/>
              </a:defRPr>
            </a:pPr>
            <a:r>
              <a:t>Personal scope for Copilot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63440" y="2606040"/>
            <a:ext cx="2468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FC3FF"/>
                </a:solidFill>
                <a:latin typeface="Consolas"/>
              </a:defRPr>
            </a:pPr>
            <a:r>
              <a:t>webApplicationInfo.id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32320" y="2606040"/>
            <a:ext cx="2468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Consolas"/>
              </a:defRPr>
            </a:pPr>
            <a:r>
              <a:t>BOT_SSO_APP_ID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01200" y="2606040"/>
            <a:ext cx="2103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888AA"/>
                </a:solidFill>
                <a:latin typeface="Segoe UI"/>
              </a:defRPr>
            </a:pPr>
            <a:r>
              <a:t>SSO app ID (same as bot)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63440" y="2926080"/>
            <a:ext cx="2468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FC3FF"/>
                </a:solidFill>
                <a:latin typeface="Consolas"/>
              </a:defRPr>
            </a:pPr>
            <a:r>
              <a:t>webApplicationInfo.resource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32320" y="2926080"/>
            <a:ext cx="2468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Consolas"/>
              </a:defRPr>
            </a:pPr>
            <a:r>
              <a:t>api://botid-&lt;id&gt;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01200" y="2926080"/>
            <a:ext cx="2103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888AA"/>
                </a:solidFill>
                <a:latin typeface="Segoe UI"/>
              </a:defRPr>
            </a:pPr>
            <a:r>
              <a:t>SSO resource URI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663440" y="3246120"/>
            <a:ext cx="2468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FC3FF"/>
                </a:solidFill>
                <a:latin typeface="Consolas"/>
              </a:defRPr>
            </a:pPr>
            <a:r>
              <a:t>copilotAgents...type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132320" y="3246120"/>
            <a:ext cx="2468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Consolas"/>
              </a:defRPr>
            </a:pPr>
            <a:r>
              <a:t>bot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01200" y="3246120"/>
            <a:ext cx="2103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888AA"/>
                </a:solidFill>
                <a:latin typeface="Segoe UI"/>
              </a:defRPr>
            </a:pPr>
            <a:r>
              <a:t>Custom Engine Agent type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663440" y="3566160"/>
            <a:ext cx="2468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FC3FF"/>
                </a:solidFill>
                <a:latin typeface="Consolas"/>
              </a:defRPr>
            </a:pPr>
            <a:r>
              <a:t>copilotAgents...functionsAs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132320" y="3566160"/>
            <a:ext cx="2468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Consolas"/>
              </a:defRPr>
            </a:pPr>
            <a:r>
              <a:t>agentOnly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601200" y="3566160"/>
            <a:ext cx="2103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888AA"/>
                </a:solidFill>
                <a:latin typeface="Segoe UI"/>
              </a:defRPr>
            </a:pPr>
            <a:r>
              <a:t>Agent-only mode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663440" y="3886200"/>
            <a:ext cx="2468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FC3FF"/>
                </a:solidFill>
                <a:latin typeface="Consolas"/>
              </a:defRPr>
            </a:pPr>
            <a:r>
              <a:t>copilotAgents...id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132320" y="3886200"/>
            <a:ext cx="2468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Consolas"/>
              </a:defRPr>
            </a:pPr>
            <a:r>
              <a:t>BOT_APP_ID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01200" y="3886200"/>
            <a:ext cx="2103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888AA"/>
                </a:solidFill>
                <a:latin typeface="Segoe UI"/>
              </a:defRPr>
            </a:pPr>
            <a:r>
              <a:t>Same bot app ID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663440" y="4206240"/>
            <a:ext cx="2468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FC3FF"/>
                </a:solidFill>
                <a:latin typeface="Consolas"/>
              </a:defRPr>
            </a:pPr>
            <a:r>
              <a:t>validDomains[0]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132320" y="4206240"/>
            <a:ext cx="2468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Consolas"/>
              </a:defRPr>
            </a:pPr>
            <a:r>
              <a:t>&lt;gateway&gt;.azurecontainerapps.io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601200" y="4206240"/>
            <a:ext cx="2103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888AA"/>
                </a:solidFill>
                <a:latin typeface="Segoe UI"/>
              </a:defRPr>
            </a:pPr>
            <a:r>
              <a:t>Gateway hostname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663440" y="4526280"/>
            <a:ext cx="2468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FC3FF"/>
                </a:solidFill>
                <a:latin typeface="Consolas"/>
              </a:defRPr>
            </a:pPr>
            <a:r>
              <a:t>validDomains[1]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132320" y="4526280"/>
            <a:ext cx="2468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Consolas"/>
              </a:defRPr>
            </a:pPr>
            <a:r>
              <a:t>token.botframework.com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601200" y="4526280"/>
            <a:ext cx="2103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888AA"/>
                </a:solidFill>
                <a:latin typeface="Segoe UI"/>
              </a:defRPr>
            </a:pPr>
            <a:r>
              <a:t>Bot Framework token domain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274320" y="3749039"/>
            <a:ext cx="3657600" cy="2651760"/>
          </a:xfrm>
          <a:prstGeom prst="roundRect">
            <a:avLst/>
          </a:prstGeom>
          <a:solidFill>
            <a:srgbClr val="262642"/>
          </a:solidFill>
          <a:ln w="19050">
            <a:solidFill>
              <a:srgbClr val="FFA7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57200" y="384048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A726"/>
                </a:solidFill>
                <a:latin typeface="Segoe UI"/>
              </a:defRPr>
            </a:pPr>
            <a:r>
              <a:t>Azure Bot OAuth Connection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57200" y="4251960"/>
            <a:ext cx="3291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Segoe UI"/>
              </a:defRPr>
            </a:pPr>
            <a:r>
              <a:t>Service: Aadv2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7200" y="4507992"/>
            <a:ext cx="3291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Segoe UI"/>
              </a:defRPr>
            </a:pPr>
            <a:r>
              <a:t>Client ID: BOT_APP_ID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57200" y="4764024"/>
            <a:ext cx="3291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Segoe UI"/>
              </a:defRPr>
            </a:pPr>
            <a:r>
              <a:t>Client Secret: BOT_APP_PASSWORD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57200" y="5020056"/>
            <a:ext cx="3291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Segoe UI"/>
              </a:defRPr>
            </a:pPr>
            <a:r>
              <a:t>Scope: &lt;service&gt;/access_as_user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57200" y="5276088"/>
            <a:ext cx="3291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FC3FF"/>
                </a:solidFill>
                <a:latin typeface="Segoe UI"/>
              </a:defRPr>
            </a:pPr>
            <a:r>
              <a:t>  offline_access openid profile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57200" y="5532120"/>
            <a:ext cx="3291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Segoe UI"/>
              </a:defRPr>
            </a:pPr>
            <a:r>
              <a:t>TokenExchangeUrl: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57200" y="5788152"/>
            <a:ext cx="3291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FC3FF"/>
                </a:solidFill>
                <a:latin typeface="Segoe UI"/>
              </a:defRPr>
            </a:pPr>
            <a:r>
              <a:t>  api://botid-&lt;BOT_APP_ID&gt;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54864"/>
          </a:xfrm>
          <a:prstGeom prst="roundRect">
            <a:avLst/>
          </a:prstGeom>
          <a:solidFill>
            <a:srgbClr val="00B3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Segoe UI"/>
              </a:defRPr>
            </a:pPr>
            <a:r>
              <a:t>Deployment Sequence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88AA"/>
                </a:solidFill>
                <a:latin typeface="Segoe UI"/>
              </a:defRPr>
            </a:pPr>
            <a:r>
              <a:t>Follow this exact order — each step depends on previous outputs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371600"/>
            <a:ext cx="2651760" cy="1188720"/>
          </a:xfrm>
          <a:prstGeom prst="roundRect">
            <a:avLst/>
          </a:prstGeom>
          <a:solidFill>
            <a:srgbClr val="4B5154"/>
          </a:solidFill>
          <a:ln w="19050">
            <a:solidFill>
              <a:srgbClr val="E1F5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57200" y="1371600"/>
            <a:ext cx="365760" cy="1188720"/>
          </a:xfrm>
          <a:prstGeom prst="roundRect">
            <a:avLst/>
          </a:prstGeom>
          <a:solidFill>
            <a:srgbClr val="E1F5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64592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B1B2F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50876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Entra app registrations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1828800"/>
            <a:ext cx="2103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888AA"/>
                </a:solidFill>
                <a:latin typeface="Segoe UI"/>
              </a:defRPr>
            </a:pPr>
            <a:r>
              <a:t>Identity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37560" y="1371600"/>
            <a:ext cx="2651760" cy="1188720"/>
          </a:xfrm>
          <a:prstGeom prst="roundRect">
            <a:avLst/>
          </a:prstGeom>
          <a:solidFill>
            <a:srgbClr val="55514A"/>
          </a:solidFill>
          <a:ln w="19050">
            <a:solidFill>
              <a:srgbClr val="FFF3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337560" y="1371600"/>
            <a:ext cx="365760" cy="1188720"/>
          </a:xfrm>
          <a:prstGeom prst="roundRect">
            <a:avLst/>
          </a:prstGeom>
          <a:solidFill>
            <a:srgbClr val="FFF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337560" y="164592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B1B2F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94760" y="150876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Grant admin consent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94760" y="1828800"/>
            <a:ext cx="2103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888AA"/>
                </a:solidFill>
                <a:latin typeface="Segoe UI"/>
              </a:defRPr>
            </a:pPr>
            <a:r>
              <a:t>Identity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1371600"/>
            <a:ext cx="2651760" cy="1188720"/>
          </a:xfrm>
          <a:prstGeom prst="roundRect">
            <a:avLst/>
          </a:prstGeom>
          <a:solidFill>
            <a:srgbClr val="4B5154"/>
          </a:solidFill>
          <a:ln w="19050">
            <a:solidFill>
              <a:srgbClr val="E1F5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217920" y="1371600"/>
            <a:ext cx="365760" cy="1188720"/>
          </a:xfrm>
          <a:prstGeom prst="roundRect">
            <a:avLst/>
          </a:prstGeom>
          <a:solidFill>
            <a:srgbClr val="E1F5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17920" y="164592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B1B2F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75120" y="150876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Azure Bot + OAuth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75120" y="1828800"/>
            <a:ext cx="2103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888AA"/>
                </a:solidFill>
                <a:latin typeface="Segoe UI"/>
              </a:defRPr>
            </a:pPr>
            <a:r>
              <a:t>Identity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098280" y="1371600"/>
            <a:ext cx="2651760" cy="1188720"/>
          </a:xfrm>
          <a:prstGeom prst="roundRect">
            <a:avLst/>
          </a:prstGeom>
          <a:solidFill>
            <a:srgbClr val="4D514D"/>
          </a:solidFill>
          <a:ln w="19050">
            <a:solidFill>
              <a:srgbClr val="E8F5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9098280" y="1371600"/>
            <a:ext cx="365760" cy="1188720"/>
          </a:xfrm>
          <a:prstGeom prst="roundRect">
            <a:avLst/>
          </a:prstGeom>
          <a:solidFill>
            <a:srgbClr val="E8F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098280" y="164592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B1B2F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555480" y="150876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Prepare downstream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555480" y="1828800"/>
            <a:ext cx="2103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888AA"/>
                </a:solidFill>
                <a:latin typeface="Segoe UI"/>
              </a:defRPr>
            </a:pPr>
            <a:r>
              <a:t>Infra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57200" y="2880360"/>
            <a:ext cx="2651760" cy="1188720"/>
          </a:xfrm>
          <a:prstGeom prst="roundRect">
            <a:avLst/>
          </a:prstGeom>
          <a:solidFill>
            <a:srgbClr val="4D514D"/>
          </a:solidFill>
          <a:ln w="19050">
            <a:solidFill>
              <a:srgbClr val="E8F5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457200" y="2880360"/>
            <a:ext cx="365760" cy="1188720"/>
          </a:xfrm>
          <a:prstGeom prst="roundRect">
            <a:avLst/>
          </a:prstGeom>
          <a:solidFill>
            <a:srgbClr val="E8F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7200" y="315468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B1B2F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" y="301752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Deploy Service (ACA)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" y="3337560"/>
            <a:ext cx="2103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888AA"/>
                </a:solidFill>
                <a:latin typeface="Segoe UI"/>
              </a:defRPr>
            </a:pPr>
            <a:r>
              <a:t>Deploy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337560" y="2880360"/>
            <a:ext cx="2651760" cy="1188720"/>
          </a:xfrm>
          <a:prstGeom prst="roundRect">
            <a:avLst/>
          </a:prstGeom>
          <a:solidFill>
            <a:srgbClr val="424C43"/>
          </a:solidFill>
          <a:ln w="19050">
            <a:solidFill>
              <a:srgbClr val="C8E6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3337560" y="2880360"/>
            <a:ext cx="365760" cy="1188720"/>
          </a:xfrm>
          <a:prstGeom prst="roundRect">
            <a:avLst/>
          </a:prstGeom>
          <a:solidFill>
            <a:srgbClr val="C8E6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337560" y="315468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B1B2F"/>
                </a:solidFill>
                <a:latin typeface="Segoe UI"/>
              </a:defRPr>
            </a:pPr>
            <a:r>
              <a:t>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794760" y="301752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Validate service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794760" y="3337560"/>
            <a:ext cx="2103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888AA"/>
                </a:solidFill>
                <a:latin typeface="Segoe UI"/>
              </a:defRPr>
            </a:pPr>
            <a:r>
              <a:t>Test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217920" y="2880360"/>
            <a:ext cx="2651760" cy="1188720"/>
          </a:xfrm>
          <a:prstGeom prst="roundRect">
            <a:avLst/>
          </a:prstGeom>
          <a:solidFill>
            <a:srgbClr val="4D514D"/>
          </a:solidFill>
          <a:ln w="19050">
            <a:solidFill>
              <a:srgbClr val="E8F5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6217920" y="2880360"/>
            <a:ext cx="365760" cy="1188720"/>
          </a:xfrm>
          <a:prstGeom prst="roundRect">
            <a:avLst/>
          </a:prstGeom>
          <a:solidFill>
            <a:srgbClr val="E8F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217920" y="315468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B1B2F"/>
                </a:solidFill>
                <a:latin typeface="Segoe UI"/>
              </a:defRPr>
            </a:pPr>
            <a:r>
              <a:t>7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675120" y="301752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Deploy Gateway (ACA)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675120" y="3337560"/>
            <a:ext cx="2103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888AA"/>
                </a:solidFill>
                <a:latin typeface="Segoe UI"/>
              </a:defRPr>
            </a:pPr>
            <a:r>
              <a:t>Deploy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9098280" y="2880360"/>
            <a:ext cx="2651760" cy="1188720"/>
          </a:xfrm>
          <a:prstGeom prst="roundRect">
            <a:avLst/>
          </a:prstGeom>
          <a:solidFill>
            <a:srgbClr val="424C43"/>
          </a:solidFill>
          <a:ln w="19050">
            <a:solidFill>
              <a:srgbClr val="C8E6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9098280" y="2880360"/>
            <a:ext cx="365760" cy="1188720"/>
          </a:xfrm>
          <a:prstGeom prst="roundRect">
            <a:avLst/>
          </a:prstGeom>
          <a:solidFill>
            <a:srgbClr val="C8E6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098280" y="315468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B1B2F"/>
                </a:solidFill>
                <a:latin typeface="Segoe UI"/>
              </a:defRPr>
            </a:pPr>
            <a:r>
              <a:t>8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555480" y="301752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Validate gateway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555480" y="3337560"/>
            <a:ext cx="2103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888AA"/>
                </a:solidFill>
                <a:latin typeface="Segoe UI"/>
              </a:defRPr>
            </a:pPr>
            <a:r>
              <a:t>Test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457200" y="4389120"/>
            <a:ext cx="2651760" cy="1188720"/>
          </a:xfrm>
          <a:prstGeom prst="roundRect">
            <a:avLst/>
          </a:prstGeom>
          <a:solidFill>
            <a:srgbClr val="514C51"/>
          </a:solidFill>
          <a:ln w="19050">
            <a:solidFill>
              <a:srgbClr val="F3E5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457200" y="4389120"/>
            <a:ext cx="365760" cy="1188720"/>
          </a:xfrm>
          <a:prstGeom prst="roundRect">
            <a:avLst/>
          </a:prstGeom>
          <a:solidFill>
            <a:srgbClr val="F3E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57200" y="466344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B1B2F"/>
                </a:solidFill>
                <a:latin typeface="Segoe UI"/>
              </a:defRPr>
            </a:pPr>
            <a:r>
              <a:t>9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14400" y="452628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Build app package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14400" y="4846320"/>
            <a:ext cx="2103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888AA"/>
                </a:solidFill>
                <a:latin typeface="Segoe UI"/>
              </a:defRPr>
            </a:pPr>
            <a:r>
              <a:t>Package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3337560" y="4389120"/>
            <a:ext cx="2651760" cy="1188720"/>
          </a:xfrm>
          <a:prstGeom prst="roundRect">
            <a:avLst/>
          </a:prstGeom>
          <a:solidFill>
            <a:srgbClr val="514C51"/>
          </a:solidFill>
          <a:ln w="19050">
            <a:solidFill>
              <a:srgbClr val="F3E5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ounded Rectangle 50"/>
          <p:cNvSpPr/>
          <p:nvPr/>
        </p:nvSpPr>
        <p:spPr>
          <a:xfrm>
            <a:off x="3337560" y="4389120"/>
            <a:ext cx="365760" cy="1188720"/>
          </a:xfrm>
          <a:prstGeom prst="roundRect">
            <a:avLst/>
          </a:prstGeom>
          <a:solidFill>
            <a:srgbClr val="F3E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3337560" y="466344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B1B2F"/>
                </a:solidFill>
                <a:latin typeface="Segoe UI"/>
              </a:defRPr>
            </a:pPr>
            <a:r>
              <a:t>10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794760" y="452628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Upload to catalog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794760" y="4846320"/>
            <a:ext cx="2103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888AA"/>
                </a:solidFill>
                <a:latin typeface="Segoe UI"/>
              </a:defRPr>
            </a:pPr>
            <a:r>
              <a:t>Package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6217920" y="4389120"/>
            <a:ext cx="2651760" cy="1188720"/>
          </a:xfrm>
          <a:prstGeom prst="roundRect">
            <a:avLst/>
          </a:prstGeom>
          <a:solidFill>
            <a:srgbClr val="4B5154"/>
          </a:solidFill>
          <a:ln w="19050">
            <a:solidFill>
              <a:srgbClr val="E1F5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ounded Rectangle 55"/>
          <p:cNvSpPr/>
          <p:nvPr/>
        </p:nvSpPr>
        <p:spPr>
          <a:xfrm>
            <a:off x="6217920" y="4389120"/>
            <a:ext cx="365760" cy="1188720"/>
          </a:xfrm>
          <a:prstGeom prst="roundRect">
            <a:avLst/>
          </a:prstGeom>
          <a:solidFill>
            <a:srgbClr val="E1F5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217920" y="466344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B1B2F"/>
                </a:solidFill>
                <a:latin typeface="Segoe UI"/>
              </a:defRPr>
            </a:pPr>
            <a:r>
              <a:t>11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675120" y="452628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Wire Bot endpoint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675120" y="4846320"/>
            <a:ext cx="2103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888AA"/>
                </a:solidFill>
                <a:latin typeface="Segoe UI"/>
              </a:defRPr>
            </a:pPr>
            <a:r>
              <a:t>Wire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9098280" y="4389120"/>
            <a:ext cx="2651760" cy="1188720"/>
          </a:xfrm>
          <a:prstGeom prst="roundRect">
            <a:avLst/>
          </a:prstGeom>
          <a:solidFill>
            <a:srgbClr val="424C43"/>
          </a:solidFill>
          <a:ln w="19050">
            <a:solidFill>
              <a:srgbClr val="C8E6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ounded Rectangle 60"/>
          <p:cNvSpPr/>
          <p:nvPr/>
        </p:nvSpPr>
        <p:spPr>
          <a:xfrm>
            <a:off x="9098280" y="4389120"/>
            <a:ext cx="365760" cy="1188720"/>
          </a:xfrm>
          <a:prstGeom prst="roundRect">
            <a:avLst/>
          </a:prstGeom>
          <a:solidFill>
            <a:srgbClr val="C8E6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9098280" y="466344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B1B2F"/>
                </a:solidFill>
                <a:latin typeface="Segoe UI"/>
              </a:defRPr>
            </a:pPr>
            <a:r>
              <a:t>12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9555480" y="452628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Test in Copilot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9555480" y="4846320"/>
            <a:ext cx="2103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888AA"/>
                </a:solidFill>
                <a:latin typeface="Segoe UI"/>
              </a:defRPr>
            </a:pPr>
            <a:r>
              <a:t>Test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457200" y="60350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888AA"/>
                </a:solidFill>
                <a:latin typeface="Segoe UI"/>
              </a:defRPr>
            </a:pPr>
            <a:r>
              <a:t>Each step outputs values (app IDs, secrets, URLs) consumed by subsequent steps. Store in .env.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54864"/>
          </a:xfrm>
          <a:prstGeom prst="roundRect">
            <a:avLst/>
          </a:prstGeom>
          <a:solidFill>
            <a:srgbClr val="FF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Segoe UI"/>
              </a:defRPr>
            </a:pPr>
            <a:r>
              <a:t>Security Checklist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88AA"/>
                </a:solidFill>
                <a:latin typeface="Segoe UI"/>
              </a:defRPr>
            </a:pPr>
            <a:r>
              <a:t>Defense in depth — every layer validates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1371600"/>
            <a:ext cx="5669280" cy="731520"/>
          </a:xfrm>
          <a:prstGeom prst="roundRect">
            <a:avLst/>
          </a:prstGeom>
          <a:solidFill>
            <a:srgbClr val="262642"/>
          </a:solidFill>
          <a:ln w="19050">
            <a:solidFill>
              <a:srgbClr val="4444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274320" y="1371600"/>
            <a:ext cx="73152" cy="731520"/>
          </a:xfrm>
          <a:prstGeom prst="roundRect">
            <a:avLst/>
          </a:prstGeom>
          <a:solidFill>
            <a:srgbClr val="00B3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417320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B336"/>
                </a:solidFill>
                <a:latin typeface="Segoe UI"/>
              </a:defRPr>
            </a:pPr>
            <a:r>
              <a:t>JWT validated in Gateway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737360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Segoe UI"/>
              </a:defRPr>
            </a:pPr>
            <a:r>
              <a:t>Audience, issuer, signature, expiry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74320" y="2240280"/>
            <a:ext cx="5669280" cy="731520"/>
          </a:xfrm>
          <a:prstGeom prst="roundRect">
            <a:avLst/>
          </a:prstGeom>
          <a:solidFill>
            <a:srgbClr val="262642"/>
          </a:solidFill>
          <a:ln w="19050">
            <a:solidFill>
              <a:srgbClr val="4444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274320" y="2240280"/>
            <a:ext cx="73152" cy="731520"/>
          </a:xfrm>
          <a:prstGeom prst="roundRect">
            <a:avLst/>
          </a:prstGeom>
          <a:solidFill>
            <a:srgbClr val="00B3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2286000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B336"/>
                </a:solidFill>
                <a:latin typeface="Segoe UI"/>
              </a:defRPr>
            </a:pPr>
            <a:r>
              <a:t>JWT issuer validated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2606040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Segoe UI"/>
              </a:defRPr>
            </a:pPr>
            <a:r>
              <a:t>Accept only tenant STS URIs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74320" y="3108960"/>
            <a:ext cx="5669280" cy="731520"/>
          </a:xfrm>
          <a:prstGeom prst="roundRect">
            <a:avLst/>
          </a:prstGeom>
          <a:solidFill>
            <a:srgbClr val="262642"/>
          </a:solidFill>
          <a:ln w="19050">
            <a:solidFill>
              <a:srgbClr val="4444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274320" y="3108960"/>
            <a:ext cx="73152" cy="731520"/>
          </a:xfrm>
          <a:prstGeom prst="roundRect">
            <a:avLst/>
          </a:prstGeom>
          <a:solidFill>
            <a:srgbClr val="00B3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3154680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B336"/>
                </a:solidFill>
                <a:latin typeface="Segoe UI"/>
              </a:defRPr>
            </a:pPr>
            <a:r>
              <a:t>JWT signature verified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3474720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Segoe UI"/>
              </a:defRPr>
            </a:pPr>
            <a:r>
              <a:t>RS256 via JWKS, not hardcoded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74320" y="3977640"/>
            <a:ext cx="5669280" cy="731520"/>
          </a:xfrm>
          <a:prstGeom prst="roundRect">
            <a:avLst/>
          </a:prstGeom>
          <a:solidFill>
            <a:srgbClr val="262642"/>
          </a:solidFill>
          <a:ln w="19050">
            <a:solidFill>
              <a:srgbClr val="4444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274320" y="3977640"/>
            <a:ext cx="73152" cy="731520"/>
          </a:xfrm>
          <a:prstGeom prst="roundRect">
            <a:avLst/>
          </a:prstGeom>
          <a:solidFill>
            <a:srgbClr val="FF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2920" y="4023360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6666"/>
                </a:solidFill>
                <a:latin typeface="Segoe UI"/>
              </a:defRPr>
            </a:pPr>
            <a:r>
              <a:t>Service internal-only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4343400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Segoe UI"/>
              </a:defRPr>
            </a:pPr>
            <a:r>
              <a:t>Not publicly accessible, gateway sole ingress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74320" y="4846320"/>
            <a:ext cx="5669280" cy="731520"/>
          </a:xfrm>
          <a:prstGeom prst="roundRect">
            <a:avLst/>
          </a:prstGeom>
          <a:solidFill>
            <a:srgbClr val="262642"/>
          </a:solidFill>
          <a:ln w="19050">
            <a:solidFill>
              <a:srgbClr val="4444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274320" y="4846320"/>
            <a:ext cx="73152" cy="731520"/>
          </a:xfrm>
          <a:prstGeom prst="roundRect">
            <a:avLst/>
          </a:prstGeom>
          <a:solidFill>
            <a:srgbClr val="FF6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2920" y="4892040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66FF"/>
                </a:solidFill>
                <a:latin typeface="Segoe UI"/>
              </a:defRPr>
            </a:pPr>
            <a:r>
              <a:t>ContextVar reset in finally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5212080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Segoe UI"/>
              </a:defRPr>
            </a:pPr>
            <a:r>
              <a:t>Prevents assertion leaking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17920" y="1371600"/>
            <a:ext cx="5669280" cy="731520"/>
          </a:xfrm>
          <a:prstGeom prst="roundRect">
            <a:avLst/>
          </a:prstGeom>
          <a:solidFill>
            <a:srgbClr val="262642"/>
          </a:solidFill>
          <a:ln w="19050">
            <a:solidFill>
              <a:srgbClr val="4444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217920" y="1371600"/>
            <a:ext cx="73152" cy="731520"/>
          </a:xfrm>
          <a:prstGeom prst="roundRect">
            <a:avLst/>
          </a:prstGeom>
          <a:solidFill>
            <a:srgbClr val="4FC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46520" y="1417320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4FC3FF"/>
                </a:solidFill>
                <a:latin typeface="Segoe UI"/>
              </a:defRPr>
            </a:pPr>
            <a:r>
              <a:t>Session owner isolation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46520" y="1737360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Segoe UI"/>
              </a:defRPr>
            </a:pPr>
            <a:r>
              <a:t>X-User-Id based, 403 on mismatch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217920" y="2240280"/>
            <a:ext cx="5669280" cy="731520"/>
          </a:xfrm>
          <a:prstGeom prst="roundRect">
            <a:avLst/>
          </a:prstGeom>
          <a:solidFill>
            <a:srgbClr val="262642"/>
          </a:solidFill>
          <a:ln w="19050">
            <a:solidFill>
              <a:srgbClr val="4444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6217920" y="2240280"/>
            <a:ext cx="73152" cy="731520"/>
          </a:xfrm>
          <a:prstGeom prst="roundRect">
            <a:avLst/>
          </a:prstGeom>
          <a:solidFill>
            <a:srgbClr val="FFA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46520" y="2286000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A726"/>
                </a:solidFill>
                <a:latin typeface="Segoe UI"/>
              </a:defRPr>
            </a:pPr>
            <a:r>
              <a:t>Downstream data scoped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46520" y="2606040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Segoe UI"/>
              </a:defRPr>
            </a:pPr>
            <a:r>
              <a:t>Parameterized queries, RLS, no raw SQL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217920" y="3108960"/>
            <a:ext cx="5669280" cy="731520"/>
          </a:xfrm>
          <a:prstGeom prst="roundRect">
            <a:avLst/>
          </a:prstGeom>
          <a:solidFill>
            <a:srgbClr val="262642"/>
          </a:solidFill>
          <a:ln w="19050">
            <a:solidFill>
              <a:srgbClr val="4444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6217920" y="3108960"/>
            <a:ext cx="73152" cy="731520"/>
          </a:xfrm>
          <a:prstGeom prst="roundRect">
            <a:avLst/>
          </a:prstGeom>
          <a:solidFill>
            <a:srgbClr val="FFA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46520" y="3154680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A726"/>
                </a:solidFill>
                <a:latin typeface="Segoe UI"/>
              </a:defRPr>
            </a:pPr>
            <a:r>
              <a:t>Secrets in ACA secrets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46520" y="3474720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Segoe UI"/>
              </a:defRPr>
            </a:pPr>
            <a:r>
              <a:t>secretref:, not plain env vars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217920" y="3977640"/>
            <a:ext cx="5669280" cy="731520"/>
          </a:xfrm>
          <a:prstGeom prst="roundRect">
            <a:avLst/>
          </a:prstGeom>
          <a:solidFill>
            <a:srgbClr val="262642"/>
          </a:solidFill>
          <a:ln w="19050">
            <a:solidFill>
              <a:srgbClr val="4444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6217920" y="3977640"/>
            <a:ext cx="73152" cy="731520"/>
          </a:xfrm>
          <a:prstGeom prst="roundRect">
            <a:avLst/>
          </a:prstGeom>
          <a:solidFill>
            <a:srgbClr val="4FC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446520" y="4023360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4FC3FF"/>
                </a:solidFill>
                <a:latin typeface="Segoe UI"/>
              </a:defRPr>
            </a:pPr>
            <a:r>
              <a:t>Invoke handling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46520" y="4343400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Segoe UI"/>
              </a:defRPr>
            </a:pPr>
            <a:r>
              <a:t>Clean return for SSO handshake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217920" y="4846320"/>
            <a:ext cx="5669280" cy="731520"/>
          </a:xfrm>
          <a:prstGeom prst="roundRect">
            <a:avLst/>
          </a:prstGeom>
          <a:solidFill>
            <a:srgbClr val="262642"/>
          </a:solidFill>
          <a:ln w="19050">
            <a:solidFill>
              <a:srgbClr val="4444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6217920" y="4846320"/>
            <a:ext cx="73152" cy="731520"/>
          </a:xfrm>
          <a:prstGeom prst="roundRect">
            <a:avLst/>
          </a:prstGeom>
          <a:solidFill>
            <a:srgbClr val="FF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446520" y="4892040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6666"/>
                </a:solidFill>
                <a:latin typeface="Segoe UI"/>
              </a:defRPr>
            </a:pPr>
            <a:r>
              <a:t>Admin consent granted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446520" y="5212080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Segoe UI"/>
              </a:defRPr>
            </a:pPr>
            <a:r>
              <a:t>Both OBO chains consented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54864"/>
          </a:xfrm>
          <a:prstGeom prst="roundRect">
            <a:avLst/>
          </a:prstGeom>
          <a:solidFill>
            <a:srgbClr val="FFA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Segoe UI"/>
              </a:defRPr>
            </a:pPr>
            <a:r>
              <a:t>Common Pitfalls &amp; Troubleshooting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20" y="1097280"/>
            <a:ext cx="11612880" cy="658368"/>
          </a:xfrm>
          <a:prstGeom prst="roundRect">
            <a:avLst/>
          </a:prstGeom>
          <a:solidFill>
            <a:srgbClr val="262642"/>
          </a:solidFill>
          <a:ln w="19050">
            <a:solidFill>
              <a:srgbClr val="4444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14300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6666"/>
                </a:solidFill>
                <a:latin typeface="Consolas"/>
              </a:defRPr>
            </a:pPr>
            <a:r>
              <a:t>AADSTS65001: not consented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97680" y="114300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A726"/>
                </a:solidFill>
                <a:latin typeface="Segoe UI"/>
              </a:defRPr>
            </a:pPr>
            <a:r>
              <a:t>Missing admin consent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97680" y="1444752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0B336"/>
                </a:solidFill>
                <a:latin typeface="Segoe UI"/>
              </a:defRPr>
            </a:pPr>
            <a:r>
              <a:t>Grant admin consent for both OBO chains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4320" y="1847088"/>
            <a:ext cx="11612880" cy="658368"/>
          </a:xfrm>
          <a:prstGeom prst="roundRect">
            <a:avLst/>
          </a:prstGeom>
          <a:solidFill>
            <a:srgbClr val="262642"/>
          </a:solidFill>
          <a:ln w="19050">
            <a:solidFill>
              <a:srgbClr val="4444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892808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6666"/>
                </a:solidFill>
                <a:latin typeface="Consolas"/>
              </a:defRPr>
            </a:pPr>
            <a:r>
              <a:t>Token is not exchangeable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0" y="1892808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A726"/>
                </a:solidFill>
                <a:latin typeface="Segoe UI"/>
              </a:defRPr>
            </a:pPr>
            <a:r>
              <a:t>Bot OAuth misconfigured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0" y="219456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0B336"/>
                </a:solidFill>
                <a:latin typeface="Segoe UI"/>
              </a:defRPr>
            </a:pPr>
            <a:r>
              <a:t>Recreate OAuth connection; new conversation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74320" y="2596896"/>
            <a:ext cx="11612880" cy="658368"/>
          </a:xfrm>
          <a:prstGeom prst="roundRect">
            <a:avLst/>
          </a:prstGeom>
          <a:solidFill>
            <a:srgbClr val="262642"/>
          </a:solidFill>
          <a:ln w="19050">
            <a:solidFill>
              <a:srgbClr val="4444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2642616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6666"/>
                </a:solidFill>
                <a:latin typeface="Consolas"/>
              </a:defRPr>
            </a:pPr>
            <a:r>
              <a:t>OBO #2 invalid_grant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97680" y="2642616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A726"/>
                </a:solidFill>
                <a:latin typeface="Segoe UI"/>
              </a:defRPr>
            </a:pPr>
            <a:r>
              <a:t>Assertion expired / aud mismatch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97680" y="2944368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0B336"/>
                </a:solidFill>
                <a:latin typeface="Segoe UI"/>
              </a:defRPr>
            </a:pPr>
            <a:r>
              <a:t>Ensure tokenVersion: 2 + correct audience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74320" y="3346704"/>
            <a:ext cx="11612880" cy="658368"/>
          </a:xfrm>
          <a:prstGeom prst="roundRect">
            <a:avLst/>
          </a:prstGeom>
          <a:solidFill>
            <a:srgbClr val="262642"/>
          </a:solidFill>
          <a:ln w="19050">
            <a:solidFill>
              <a:srgbClr val="4444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3392424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6666"/>
                </a:solidFill>
                <a:latin typeface="Consolas"/>
              </a:defRPr>
            </a:pPr>
            <a:r>
              <a:t>Gateway returns 401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97680" y="3392424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A726"/>
                </a:solidFill>
                <a:latin typeface="Segoe UI"/>
              </a:defRPr>
            </a:pPr>
            <a:r>
              <a:t>JWT validation rejects OBO #1 token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97680" y="369417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0B336"/>
                </a:solidFill>
                <a:latin typeface="Segoe UI"/>
              </a:defRPr>
            </a:pPr>
            <a:r>
              <a:t>Check SERVICE_EXPECTED_AUDIENCE, issuer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74320" y="4096512"/>
            <a:ext cx="11612880" cy="658368"/>
          </a:xfrm>
          <a:prstGeom prst="roundRect">
            <a:avLst/>
          </a:prstGeom>
          <a:solidFill>
            <a:srgbClr val="262642"/>
          </a:solidFill>
          <a:ln w="19050">
            <a:solidFill>
              <a:srgbClr val="4444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4142232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6666"/>
                </a:solidFill>
                <a:latin typeface="Consolas"/>
              </a:defRPr>
            </a:pPr>
            <a:r>
              <a:t>Session 403 on 2nd turn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97680" y="4142232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A726"/>
                </a:solidFill>
                <a:latin typeface="Segoe UI"/>
              </a:defRPr>
            </a:pPr>
            <a:r>
              <a:t>owner_id mismatch between turns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297680" y="4443984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0B336"/>
                </a:solidFill>
                <a:latin typeface="Segoe UI"/>
              </a:defRPr>
            </a:pPr>
            <a:r>
              <a:t>Verify X-User-Id header is consistent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74320" y="4846320"/>
            <a:ext cx="11612880" cy="658368"/>
          </a:xfrm>
          <a:prstGeom prst="roundRect">
            <a:avLst/>
          </a:prstGeom>
          <a:solidFill>
            <a:srgbClr val="262642"/>
          </a:solidFill>
          <a:ln w="19050">
            <a:solidFill>
              <a:srgbClr val="4444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7200" y="48920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6666"/>
                </a:solidFill>
                <a:latin typeface="Consolas"/>
              </a:defRPr>
            </a:pPr>
            <a:r>
              <a:t>/healthz returns 401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297680" y="489204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A726"/>
                </a:solidFill>
                <a:latin typeface="Segoe UI"/>
              </a:defRPr>
            </a:pPr>
            <a:r>
              <a:t>Health not excluded from auth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297680" y="5193792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0B336"/>
                </a:solidFill>
                <a:latin typeface="Segoe UI"/>
              </a:defRPr>
            </a:pPr>
            <a:r>
              <a:t>Add path exclusion for /healthz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274320" y="5596128"/>
            <a:ext cx="11612880" cy="658368"/>
          </a:xfrm>
          <a:prstGeom prst="roundRect">
            <a:avLst/>
          </a:prstGeom>
          <a:solidFill>
            <a:srgbClr val="262642"/>
          </a:solidFill>
          <a:ln w="19050">
            <a:solidFill>
              <a:srgbClr val="4444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7200" y="5641848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6666"/>
                </a:solidFill>
                <a:latin typeface="Consolas"/>
              </a:defRPr>
            </a:pPr>
            <a:r>
              <a:t>Invoke shows error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297680" y="5641848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A726"/>
                </a:solidFill>
                <a:latin typeface="Segoe UI"/>
              </a:defRPr>
            </a:pPr>
            <a:r>
              <a:t>Missing invoke handler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97680" y="59436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0B336"/>
                </a:solidFill>
                <a:latin typeface="Segoe UI"/>
              </a:defRPr>
            </a:pPr>
            <a:r>
              <a:t>Add no-op route with is_invoke=True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54864"/>
          </a:xfrm>
          <a:prstGeom prst="roundRect">
            <a:avLst/>
          </a:prstGeom>
          <a:solidFill>
            <a:srgbClr val="00B3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Segoe UI"/>
              </a:defRPr>
            </a:pPr>
            <a:r>
              <a:t>Extending the Pattern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20" y="1097280"/>
            <a:ext cx="2743200" cy="5029200"/>
          </a:xfrm>
          <a:prstGeom prst="roundRect">
            <a:avLst/>
          </a:prstGeom>
          <a:solidFill>
            <a:srgbClr val="262642"/>
          </a:solidFill>
          <a:ln w="19050">
            <a:solidFill>
              <a:srgbClr val="FF66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18872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66FF"/>
                </a:solidFill>
                <a:latin typeface="Segoe UI"/>
              </a:defRPr>
            </a:pPr>
            <a:r>
              <a:t>Fronting an Existing Service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1783080"/>
            <a:ext cx="274320" cy="274320"/>
          </a:xfrm>
          <a:prstGeom prst="roundRect">
            <a:avLst/>
          </a:prstGeom>
          <a:solidFill>
            <a:srgbClr val="FF6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178308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B1B2F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783080"/>
            <a:ext cx="2103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Segoe UI"/>
              </a:defRPr>
            </a:pPr>
            <a:r>
              <a:t>Do NOT modify the existing service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1480" y="2423160"/>
            <a:ext cx="274320" cy="274320"/>
          </a:xfrm>
          <a:prstGeom prst="roundRect">
            <a:avLst/>
          </a:prstGeom>
          <a:solidFill>
            <a:srgbClr val="FF6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1480" y="242316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B1B2F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423160"/>
            <a:ext cx="2103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Segoe UI"/>
              </a:defRPr>
            </a:pPr>
            <a:r>
              <a:t>Gateway handles JWT validation for you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11480" y="3063240"/>
            <a:ext cx="274320" cy="274320"/>
          </a:xfrm>
          <a:prstGeom prst="roundRect">
            <a:avLst/>
          </a:prstGeom>
          <a:solidFill>
            <a:srgbClr val="FF6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1480" y="306324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B1B2F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3063240"/>
            <a:ext cx="2103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Segoe UI"/>
              </a:defRPr>
            </a:pPr>
            <a:r>
              <a:t>Write a service client adapter in gateway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11480" y="3703320"/>
            <a:ext cx="274320" cy="274320"/>
          </a:xfrm>
          <a:prstGeom prst="roundRect">
            <a:avLst/>
          </a:prstGeom>
          <a:solidFill>
            <a:srgbClr val="FF6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11480" y="370332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B1B2F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3703320"/>
            <a:ext cx="2103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Segoe UI"/>
              </a:defRPr>
            </a:pPr>
            <a:r>
              <a:t>Deploy service on internal-only ingress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200400" y="1097280"/>
            <a:ext cx="2743200" cy="5029200"/>
          </a:xfrm>
          <a:prstGeom prst="roundRect">
            <a:avLst/>
          </a:prstGeom>
          <a:solidFill>
            <a:srgbClr val="262642"/>
          </a:solidFill>
          <a:ln w="19050">
            <a:solidFill>
              <a:srgbClr val="4FC3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337560" y="118872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4FC3FF"/>
                </a:solidFill>
                <a:latin typeface="Segoe UI"/>
              </a:defRPr>
            </a:pPr>
            <a:r>
              <a:t>Adding a New Downstream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337560" y="1783080"/>
            <a:ext cx="274320" cy="274320"/>
          </a:xfrm>
          <a:prstGeom prst="roundRect">
            <a:avLst/>
          </a:prstGeom>
          <a:solidFill>
            <a:srgbClr val="4FC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337560" y="178308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B1B2F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703320" y="1783080"/>
            <a:ext cx="2103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Segoe UI"/>
              </a:defRPr>
            </a:pPr>
            <a:r>
              <a:t>Add delegated permission to service app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337560" y="2423160"/>
            <a:ext cx="274320" cy="274320"/>
          </a:xfrm>
          <a:prstGeom prst="roundRect">
            <a:avLst/>
          </a:prstGeom>
          <a:solidFill>
            <a:srgbClr val="4FC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337560" y="242316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B1B2F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703320" y="2423160"/>
            <a:ext cx="2103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Segoe UI"/>
              </a:defRPr>
            </a:pPr>
            <a:r>
              <a:t>Grant admin consent for the new resource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337560" y="3063240"/>
            <a:ext cx="274320" cy="274320"/>
          </a:xfrm>
          <a:prstGeom prst="roundRect">
            <a:avLst/>
          </a:prstGeom>
          <a:solidFill>
            <a:srgbClr val="4FC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337560" y="306324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B1B2F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703320" y="3063240"/>
            <a:ext cx="2103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Segoe UI"/>
              </a:defRPr>
            </a:pPr>
            <a:r>
              <a:t>Add acquire_X_token() using same ContextVar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337560" y="3703320"/>
            <a:ext cx="274320" cy="274320"/>
          </a:xfrm>
          <a:prstGeom prst="roundRect">
            <a:avLst/>
          </a:prstGeom>
          <a:solidFill>
            <a:srgbClr val="4FC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337560" y="370332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B1B2F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703320" y="3703320"/>
            <a:ext cx="2103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Segoe UI"/>
              </a:defRPr>
            </a:pPr>
            <a:r>
              <a:t>Call from agentic logic when needed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126480" y="1097280"/>
            <a:ext cx="2743200" cy="5029200"/>
          </a:xfrm>
          <a:prstGeom prst="roundRect">
            <a:avLst/>
          </a:prstGeom>
          <a:solidFill>
            <a:srgbClr val="262642"/>
          </a:solidFill>
          <a:ln w="19050">
            <a:solidFill>
              <a:srgbClr val="00B3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263640" y="118872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B336"/>
                </a:solidFill>
                <a:latin typeface="Segoe UI"/>
              </a:defRPr>
            </a:pPr>
            <a:r>
              <a:t>Scaling Beyond Single-Replica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263640" y="1783080"/>
            <a:ext cx="274320" cy="274320"/>
          </a:xfrm>
          <a:prstGeom prst="roundRect">
            <a:avLst/>
          </a:prstGeom>
          <a:solidFill>
            <a:srgbClr val="00B3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263640" y="178308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B1B2F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629400" y="1783080"/>
            <a:ext cx="2103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Segoe UI"/>
              </a:defRPr>
            </a:pPr>
            <a:r>
              <a:t>Replace InMemorySessionStore with Redis/Cosmos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263640" y="2423160"/>
            <a:ext cx="274320" cy="274320"/>
          </a:xfrm>
          <a:prstGeom prst="roundRect">
            <a:avLst/>
          </a:prstGeom>
          <a:solidFill>
            <a:srgbClr val="00B3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263640" y="242316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B1B2F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629400" y="2423160"/>
            <a:ext cx="2103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Segoe UI"/>
              </a:defRPr>
            </a:pPr>
            <a:r>
              <a:t>ContextVar + OBO is per-request, not per-replica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263640" y="3063240"/>
            <a:ext cx="274320" cy="274320"/>
          </a:xfrm>
          <a:prstGeom prst="roundRect">
            <a:avLst/>
          </a:prstGeom>
          <a:solidFill>
            <a:srgbClr val="00B3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263640" y="306324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B1B2F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629400" y="3063240"/>
            <a:ext cx="2103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Segoe UI"/>
              </a:defRPr>
            </a:pPr>
            <a:r>
              <a:t>Gateway already stateless — scale horizontally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263640" y="3703320"/>
            <a:ext cx="274320" cy="274320"/>
          </a:xfrm>
          <a:prstGeom prst="roundRect">
            <a:avLst/>
          </a:prstGeom>
          <a:solidFill>
            <a:srgbClr val="00B3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263640" y="370332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B1B2F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629400" y="3703320"/>
            <a:ext cx="2103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Segoe UI"/>
              </a:defRPr>
            </a:pPr>
            <a:r>
              <a:t>Session affinity via conversation_id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9052560" y="1097280"/>
            <a:ext cx="2743200" cy="5029200"/>
          </a:xfrm>
          <a:prstGeom prst="roundRect">
            <a:avLst/>
          </a:prstGeom>
          <a:solidFill>
            <a:srgbClr val="262642"/>
          </a:solidFill>
          <a:ln w="19050">
            <a:solidFill>
              <a:srgbClr val="FFA7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189720" y="118872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A726"/>
                </a:solidFill>
                <a:latin typeface="Segoe UI"/>
              </a:defRPr>
            </a:pPr>
            <a:r>
              <a:t>Adding a Second Agent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9189720" y="1783080"/>
            <a:ext cx="274320" cy="274320"/>
          </a:xfrm>
          <a:prstGeom prst="roundRect">
            <a:avLst/>
          </a:prstGeom>
          <a:solidFill>
            <a:srgbClr val="FFA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189720" y="178308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B1B2F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555480" y="1783080"/>
            <a:ext cx="2103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Segoe UI"/>
              </a:defRPr>
            </a:pPr>
            <a:r>
              <a:t>Deploy second gateway + service pair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9189720" y="2423160"/>
            <a:ext cx="274320" cy="274320"/>
          </a:xfrm>
          <a:prstGeom prst="roundRect">
            <a:avLst/>
          </a:prstGeom>
          <a:solidFill>
            <a:srgbClr val="FFA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9189720" y="242316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B1B2F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555480" y="2423160"/>
            <a:ext cx="2103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Segoe UI"/>
              </a:defRPr>
            </a:pPr>
            <a:r>
              <a:t>Own Entra app registrations + Bot resource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9189720" y="3063240"/>
            <a:ext cx="274320" cy="274320"/>
          </a:xfrm>
          <a:prstGeom prst="roundRect">
            <a:avLst/>
          </a:prstGeom>
          <a:solidFill>
            <a:srgbClr val="FFA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9189720" y="306324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B1B2F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555480" y="3063240"/>
            <a:ext cx="2103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Segoe UI"/>
              </a:defRPr>
            </a:pPr>
            <a:r>
              <a:t>Separate or multi-bot M365 app package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9189720" y="3703320"/>
            <a:ext cx="274320" cy="274320"/>
          </a:xfrm>
          <a:prstGeom prst="roundRect">
            <a:avLst/>
          </a:prstGeom>
          <a:solidFill>
            <a:srgbClr val="FFA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9189720" y="370332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B1B2F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555480" y="3703320"/>
            <a:ext cx="2103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Segoe UI"/>
              </a:defRPr>
            </a:pPr>
            <a:r>
              <a:t>Same OBO chain pattern applies independently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